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cfa03966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cfa03966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cfa039665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cfa03966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cfa039665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cfa039665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cfa03966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cfa03966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cfa03966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cfa03966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cfa03966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cfa03966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fa039665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cfa039665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cfa03966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cfa03966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cfa039665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cfa039665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cfa03966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cfa03966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cfa039665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cfa039665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fa039665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cfa039665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.jpg"/><Relationship Id="rId6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3124" y="2286388"/>
            <a:ext cx="2649169" cy="19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9099" l="0" r="0" t="0"/>
          <a:stretch/>
        </p:blipFill>
        <p:spPr>
          <a:xfrm>
            <a:off x="1949175" y="2143950"/>
            <a:ext cx="1561500" cy="227837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8" y="0"/>
            <a:ext cx="8520600" cy="205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uhh…. Traveling Sales</a:t>
            </a:r>
            <a:r>
              <a:rPr lang="en" strike="sngStrike">
                <a:solidFill>
                  <a:schemeClr val="dk2"/>
                </a:solidFill>
              </a:rPr>
              <a:t>man</a:t>
            </a:r>
            <a:r>
              <a:rPr lang="en"/>
              <a:t>person Problem???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496500" y="4350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John Henry Adams, Dylan Dao, Harry Williams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8" name="Google Shape;58;p13" title="istockphoto-186868275-612x61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00" y="2440575"/>
            <a:ext cx="1876325" cy="17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3277" y="2420277"/>
            <a:ext cx="2684298" cy="178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700" y="903988"/>
            <a:ext cx="6464703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6655400" y="1322125"/>
            <a:ext cx="221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Complete, weighted graph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648925" y="2208675"/>
            <a:ext cx="239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Visit every vertex once, except start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6648925" y="3280300"/>
            <a:ext cx="239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Find least cost path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883500" y="860425"/>
            <a:ext cx="20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Optimal: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What is the Traveling Salesman Problem?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-10170" l="-1880" r="1880" t="10170"/>
          <a:stretch/>
        </p:blipFill>
        <p:spPr>
          <a:xfrm>
            <a:off x="2632975" y="572700"/>
            <a:ext cx="3816948" cy="289367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Optimal vs Decision</a:t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1550" y="2337090"/>
            <a:ext cx="4680899" cy="276662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6894325" y="1324275"/>
            <a:ext cx="20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Decision: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-74425" y="1785963"/>
            <a:ext cx="2785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Visit every vertex once, except start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-59725" y="2537550"/>
            <a:ext cx="2535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Find least cost path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56575" y="1324275"/>
            <a:ext cx="201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Optimal: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-59725" y="3350950"/>
            <a:ext cx="27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F→C→E→D→A→F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Cost: 11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786625" y="1888425"/>
            <a:ext cx="2234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Find a tour that visits each city exactly once, total cost ≤ k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818275" y="3160575"/>
            <a:ext cx="217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returns a </a:t>
            </a:r>
            <a:r>
              <a:rPr b="1" lang="en" sz="1600">
                <a:solidFill>
                  <a:schemeClr val="dk1"/>
                </a:solidFill>
              </a:rPr>
              <a:t>yes </a:t>
            </a:r>
            <a:r>
              <a:rPr lang="en" sz="1600">
                <a:solidFill>
                  <a:schemeClr val="dk1"/>
                </a:solidFill>
              </a:rPr>
              <a:t>or </a:t>
            </a:r>
            <a:r>
              <a:rPr b="1" lang="en" sz="1600">
                <a:solidFill>
                  <a:schemeClr val="dk1"/>
                </a:solidFill>
              </a:rPr>
              <a:t>no</a:t>
            </a:r>
            <a:r>
              <a:rPr lang="en" sz="1600">
                <a:solidFill>
                  <a:schemeClr val="dk1"/>
                </a:solidFill>
              </a:rPr>
              <a:t> answer to this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Certifier Process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 certificate is just a </a:t>
            </a:r>
            <a:r>
              <a:rPr b="1" lang="en" sz="1600">
                <a:solidFill>
                  <a:schemeClr val="dk1"/>
                </a:solidFill>
              </a:rPr>
              <a:t>given tour</a:t>
            </a:r>
            <a:r>
              <a:rPr lang="en" sz="1600">
                <a:solidFill>
                  <a:schemeClr val="dk1"/>
                </a:solidFill>
              </a:rPr>
              <a:t>, e.g.: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Tour: F</a:t>
            </a:r>
            <a:r>
              <a:rPr lang="en" sz="1400">
                <a:solidFill>
                  <a:schemeClr val="dk1"/>
                </a:solidFill>
              </a:rPr>
              <a:t>→</a:t>
            </a:r>
            <a:r>
              <a:rPr lang="en" sz="1600">
                <a:solidFill>
                  <a:schemeClr val="dk1"/>
                </a:solidFill>
              </a:rPr>
              <a:t>C</a:t>
            </a:r>
            <a:r>
              <a:rPr lang="en" sz="1400">
                <a:solidFill>
                  <a:schemeClr val="dk1"/>
                </a:solidFill>
              </a:rPr>
              <a:t>→</a:t>
            </a:r>
            <a:r>
              <a:rPr lang="en" sz="1600">
                <a:solidFill>
                  <a:schemeClr val="dk1"/>
                </a:solidFill>
              </a:rPr>
              <a:t>E</a:t>
            </a:r>
            <a:r>
              <a:rPr lang="en" sz="1400">
                <a:solidFill>
                  <a:schemeClr val="dk1"/>
                </a:solidFill>
              </a:rPr>
              <a:t>→</a:t>
            </a:r>
            <a:r>
              <a:rPr lang="en" sz="1600">
                <a:solidFill>
                  <a:schemeClr val="dk1"/>
                </a:solidFill>
              </a:rPr>
              <a:t>D</a:t>
            </a:r>
            <a:r>
              <a:rPr lang="en" sz="1400">
                <a:solidFill>
                  <a:schemeClr val="dk1"/>
                </a:solidFill>
              </a:rPr>
              <a:t>→</a:t>
            </a:r>
            <a:r>
              <a:rPr lang="en" sz="1600">
                <a:solidFill>
                  <a:schemeClr val="dk1"/>
                </a:solidFill>
              </a:rPr>
              <a:t>A</a:t>
            </a:r>
            <a:r>
              <a:rPr lang="en" sz="1400">
                <a:solidFill>
                  <a:schemeClr val="dk1"/>
                </a:solidFill>
              </a:rPr>
              <a:t>→</a:t>
            </a:r>
            <a:r>
              <a:rPr lang="en" sz="1600">
                <a:solidFill>
                  <a:schemeClr val="dk1"/>
                </a:solidFill>
              </a:rPr>
              <a:t>F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Verifier checks: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Does the tour visit every city once?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Does it return to the starting city?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Is the total weight ≤ k?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This takes </a:t>
            </a:r>
            <a:r>
              <a:rPr b="1" lang="en" sz="1600">
                <a:solidFill>
                  <a:schemeClr val="dk1"/>
                </a:solidFill>
              </a:rPr>
              <a:t>O(n) </a:t>
            </a:r>
            <a:r>
              <a:rPr lang="en" sz="1600">
                <a:solidFill>
                  <a:schemeClr val="dk1"/>
                </a:solidFill>
              </a:rPr>
              <a:t>time → </a:t>
            </a:r>
            <a:r>
              <a:rPr b="1" lang="en" sz="1600">
                <a:solidFill>
                  <a:schemeClr val="dk1"/>
                </a:solidFill>
              </a:rPr>
              <a:t>polynomial.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050" y="1199625"/>
            <a:ext cx="4963074" cy="293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Certifier Process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n-constant time steps:</a:t>
            </a:r>
            <a:endParaRPr sz="16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perform </a:t>
            </a:r>
            <a:r>
              <a:rPr b="1" lang="en" sz="1200">
                <a:solidFill>
                  <a:schemeClr val="dk1"/>
                </a:solidFill>
              </a:rPr>
              <a:t>one weight lookup</a:t>
            </a:r>
            <a:r>
              <a:rPr lang="en" sz="1200">
                <a:solidFill>
                  <a:schemeClr val="dk1"/>
                </a:solidFill>
              </a:rPr>
              <a:t> for each of the n edges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perform </a:t>
            </a:r>
            <a:r>
              <a:rPr b="1" lang="en" sz="1200">
                <a:solidFill>
                  <a:schemeClr val="dk1"/>
                </a:solidFill>
              </a:rPr>
              <a:t>one addition</a:t>
            </a:r>
            <a:r>
              <a:rPr lang="en" sz="1200">
                <a:solidFill>
                  <a:schemeClr val="dk1"/>
                </a:solidFill>
              </a:rPr>
              <a:t> per edge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8">
                <a:solidFill>
                  <a:schemeClr val="dk1"/>
                </a:solidFill>
              </a:rPr>
              <a:t>all constant-time operations for </a:t>
            </a:r>
            <a:r>
              <a:rPr b="1" lang="en" sz="1308">
                <a:solidFill>
                  <a:schemeClr val="dk1"/>
                </a:solidFill>
              </a:rPr>
              <a:t>n</a:t>
            </a:r>
            <a:endParaRPr b="1" sz="13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32">
                <a:solidFill>
                  <a:schemeClr val="dk1"/>
                </a:solidFill>
              </a:rPr>
              <a:t>T(n) = n ⋅ O(1) = O(n)</a:t>
            </a:r>
            <a:endParaRPr sz="173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572000" y="854425"/>
            <a:ext cx="4431000" cy="379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728900" y="854425"/>
            <a:ext cx="41172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 array seen[1..n] initialized to false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total = 0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i = 1 to n-1: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tour[i]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v = tour[i+1]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no edge (u,v) exists: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return REJECT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total = total + w(u,v)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if no edge (tour[n], tour[1]) exists: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REJECT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total = total + w(tour[n], tour[1])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99925"/>
            <a:ext cx="4149624" cy="298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325" y="999937"/>
            <a:ext cx="4638674" cy="2986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661138" y="4313550"/>
            <a:ext cx="2579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60">
                <a:solidFill>
                  <a:schemeClr val="dk1"/>
                </a:solidFill>
              </a:rPr>
              <a:t>Hamiltonian Cycle</a:t>
            </a:r>
            <a:endParaRPr sz="700"/>
          </a:p>
        </p:txBody>
      </p:sp>
      <p:sp>
        <p:nvSpPr>
          <p:cNvPr id="106" name="Google Shape;106;p18"/>
          <p:cNvSpPr/>
          <p:nvPr/>
        </p:nvSpPr>
        <p:spPr>
          <a:xfrm>
            <a:off x="3637200" y="4313550"/>
            <a:ext cx="1352700" cy="48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5223000" y="4313550"/>
            <a:ext cx="3609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60">
                <a:solidFill>
                  <a:schemeClr val="dk1"/>
                </a:solidFill>
              </a:rPr>
              <a:t>Traveling Salesman Problem</a:t>
            </a:r>
            <a:endParaRPr sz="700"/>
          </a:p>
        </p:txBody>
      </p:sp>
      <p:sp>
        <p:nvSpPr>
          <p:cNvPr id="108" name="Google Shape;108;p18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Reduction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673625" y="572700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Let </a:t>
            </a:r>
            <a:r>
              <a:rPr i="1" lang="en" sz="1600">
                <a:solidFill>
                  <a:schemeClr val="dk1"/>
                </a:solidFill>
              </a:rPr>
              <a:t>G′</a:t>
            </a:r>
            <a:r>
              <a:rPr lang="en" sz="1600">
                <a:solidFill>
                  <a:schemeClr val="dk1"/>
                </a:solidFill>
              </a:rPr>
              <a:t> be a new graph with edges between all pairs of vertices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Edges present in </a:t>
            </a:r>
            <a:r>
              <a:rPr i="1" lang="en" sz="1600">
                <a:solidFill>
                  <a:schemeClr val="dk1"/>
                </a:solidFill>
              </a:rPr>
              <a:t>G</a:t>
            </a:r>
            <a:r>
              <a:rPr lang="en" sz="1600">
                <a:solidFill>
                  <a:schemeClr val="dk1"/>
                </a:solidFill>
              </a:rPr>
              <a:t> assigned weight 0, new edges in </a:t>
            </a:r>
            <a:r>
              <a:rPr i="1" lang="en" sz="1600">
                <a:solidFill>
                  <a:schemeClr val="dk1"/>
                </a:solidFill>
              </a:rPr>
              <a:t>G′</a:t>
            </a:r>
            <a:r>
              <a:rPr lang="en" sz="1600">
                <a:solidFill>
                  <a:schemeClr val="dk1"/>
                </a:solidFill>
              </a:rPr>
              <a:t> assigned weight 1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Constructed in polynomial time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354354" y="2857300"/>
            <a:ext cx="2898850" cy="2922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10500"/>
            <a:ext cx="4702724" cy="300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4673625" y="1017725"/>
            <a:ext cx="4260300" cy="391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Graph </a:t>
            </a:r>
            <a:r>
              <a:rPr i="1" lang="en" sz="1600">
                <a:solidFill>
                  <a:schemeClr val="dk1"/>
                </a:solidFill>
              </a:rPr>
              <a:t>G</a:t>
            </a:r>
            <a:r>
              <a:rPr lang="en" sz="1600">
                <a:solidFill>
                  <a:schemeClr val="dk1"/>
                </a:solidFill>
              </a:rPr>
              <a:t> has HC if cycle in </a:t>
            </a:r>
            <a:r>
              <a:rPr i="1" lang="en" sz="1600">
                <a:solidFill>
                  <a:schemeClr val="dk1"/>
                </a:solidFill>
              </a:rPr>
              <a:t>G′</a:t>
            </a:r>
            <a:r>
              <a:rPr lang="en" sz="1600">
                <a:solidFill>
                  <a:schemeClr val="dk1"/>
                </a:solidFill>
              </a:rPr>
              <a:t> passes through all vertices once, and has length of 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Cycle contains only edges originally present in graph </a:t>
            </a:r>
            <a:r>
              <a:rPr i="1" lang="en" sz="1600">
                <a:solidFill>
                  <a:schemeClr val="dk1"/>
                </a:solidFill>
              </a:rPr>
              <a:t>G</a:t>
            </a:r>
            <a:endParaRPr i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If HC in </a:t>
            </a:r>
            <a:r>
              <a:rPr i="1" lang="en" sz="1600">
                <a:solidFill>
                  <a:schemeClr val="dk1"/>
                </a:solidFill>
              </a:rPr>
              <a:t>G</a:t>
            </a:r>
            <a:r>
              <a:rPr lang="en" sz="1600">
                <a:solidFill>
                  <a:schemeClr val="dk1"/>
                </a:solidFill>
              </a:rPr>
              <a:t>, it forms cycle in </a:t>
            </a:r>
            <a:r>
              <a:rPr i="1" lang="en" sz="1600">
                <a:solidFill>
                  <a:schemeClr val="dk1"/>
                </a:solidFill>
              </a:rPr>
              <a:t>G′ </a:t>
            </a:r>
            <a:r>
              <a:rPr lang="en" sz="1600">
                <a:solidFill>
                  <a:schemeClr val="dk1"/>
                </a:solidFill>
              </a:rPr>
              <a:t>with length of 0.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lang="en" sz="1600" u="sng">
                <a:solidFill>
                  <a:schemeClr val="dk1"/>
                </a:solidFill>
              </a:rPr>
              <a:t>Solution exists for TSP in </a:t>
            </a:r>
            <a:r>
              <a:rPr i="1" lang="en" sz="1600" u="sng">
                <a:solidFill>
                  <a:schemeClr val="dk1"/>
                </a:solidFill>
              </a:rPr>
              <a:t>G′ </a:t>
            </a:r>
            <a:r>
              <a:rPr lang="en" sz="1600" u="sng">
                <a:solidFill>
                  <a:schemeClr val="dk1"/>
                </a:solidFill>
              </a:rPr>
              <a:t>with length of 0</a:t>
            </a:r>
            <a:endParaRPr sz="1600" u="sng">
              <a:solidFill>
                <a:schemeClr val="dk1"/>
              </a:solidFill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0500"/>
            <a:ext cx="4702724" cy="3003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Reduction</a:t>
            </a:r>
            <a:endParaRPr/>
          </a:p>
        </p:txBody>
      </p:sp>
      <p:pic>
        <p:nvPicPr>
          <p:cNvPr id="129" name="Google Shape;12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5" y="1263450"/>
            <a:ext cx="4652500" cy="306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4572000" y="2159225"/>
            <a:ext cx="4260300" cy="13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1000"/>
              </a:spcAft>
              <a:buClr>
                <a:schemeClr val="dk1"/>
              </a:buClr>
              <a:buSzPts val="1600"/>
              <a:buChar char="●"/>
            </a:pPr>
            <a:r>
              <a:rPr i="1" lang="en" sz="1600">
                <a:solidFill>
                  <a:schemeClr val="dk1"/>
                </a:solidFill>
              </a:rPr>
              <a:t>G′</a:t>
            </a:r>
            <a:r>
              <a:rPr lang="en" sz="1600">
                <a:solidFill>
                  <a:schemeClr val="dk1"/>
                </a:solidFill>
              </a:rPr>
              <a:t> has cycle passing through all vertices once with length of 0. This is a </a:t>
            </a:r>
            <a:r>
              <a:rPr b="1" lang="en" sz="1600">
                <a:solidFill>
                  <a:schemeClr val="dk1"/>
                </a:solidFill>
              </a:rPr>
              <a:t>Hamiltonian Cycle</a:t>
            </a:r>
            <a:r>
              <a:rPr lang="en" sz="1600">
                <a:solidFill>
                  <a:schemeClr val="dk1"/>
                </a:solidFill>
              </a:rPr>
              <a:t> in </a:t>
            </a:r>
            <a:r>
              <a:rPr i="1" lang="en" sz="1600">
                <a:solidFill>
                  <a:schemeClr val="dk1"/>
                </a:solidFill>
              </a:rPr>
              <a:t>G.</a:t>
            </a:r>
            <a:endParaRPr sz="16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704225" y="86328"/>
            <a:ext cx="4297125" cy="429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Analytical Runtime</a:t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311700" y="1135850"/>
            <a:ext cx="4659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Using a brute-force algorithm for TSP, every possible tour of the cities is examined: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64300" y="2507750"/>
            <a:ext cx="861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rgbClr val="FF0000"/>
                </a:solidFill>
              </a:rPr>
              <a:t>for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2"/>
                </a:solidFill>
              </a:rPr>
              <a:t>perm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FF0000"/>
                </a:solidFill>
              </a:rPr>
              <a:t>in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666666"/>
                </a:solidFill>
              </a:rPr>
              <a:t>itertools.permutations(</a:t>
            </a:r>
            <a:r>
              <a:rPr lang="en" sz="1900">
                <a:solidFill>
                  <a:srgbClr val="188038"/>
                </a:solidFill>
              </a:rPr>
              <a:t>range</a:t>
            </a:r>
            <a:r>
              <a:rPr lang="en" sz="1900">
                <a:solidFill>
                  <a:srgbClr val="666666"/>
                </a:solidFill>
              </a:rPr>
              <a:t>(</a:t>
            </a:r>
            <a:r>
              <a:rPr lang="en" sz="1900">
                <a:solidFill>
                  <a:srgbClr val="FF00FF"/>
                </a:solidFill>
              </a:rPr>
              <a:t>1</a:t>
            </a:r>
            <a:r>
              <a:rPr lang="en" sz="1900">
                <a:solidFill>
                  <a:srgbClr val="666666"/>
                </a:solidFill>
              </a:rPr>
              <a:t>, n)) </a:t>
            </a:r>
            <a:r>
              <a:rPr lang="en" sz="1900">
                <a:solidFill>
                  <a:schemeClr val="dk1"/>
                </a:solidFill>
              </a:rPr>
              <a:t>producing</a:t>
            </a:r>
            <a:r>
              <a:rPr lang="en" sz="1900">
                <a:solidFill>
                  <a:srgbClr val="666666"/>
                </a:solidFill>
              </a:rPr>
              <a:t> (n - 1)! </a:t>
            </a:r>
            <a:r>
              <a:rPr lang="en" sz="1900">
                <a:solidFill>
                  <a:schemeClr val="dk1"/>
                </a:solidFill>
              </a:rPr>
              <a:t>tours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280350" y="3355150"/>
            <a:ext cx="858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cost = </a:t>
            </a:r>
            <a:r>
              <a:rPr lang="en" sz="1900">
                <a:solidFill>
                  <a:srgbClr val="188038"/>
                </a:solidFill>
              </a:rPr>
              <a:t>sum</a:t>
            </a:r>
            <a:r>
              <a:rPr lang="en" sz="1900">
                <a:solidFill>
                  <a:srgbClr val="666666"/>
                </a:solidFill>
              </a:rPr>
              <a:t>(dist[tour[i]][tour[i +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FF00FF"/>
                </a:solidFill>
              </a:rPr>
              <a:t>1</a:t>
            </a:r>
            <a:r>
              <a:rPr lang="en" sz="1900">
                <a:solidFill>
                  <a:srgbClr val="666666"/>
                </a:solidFill>
              </a:rPr>
              <a:t>]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FF0000"/>
                </a:solidFill>
              </a:rPr>
              <a:t>for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666666"/>
                </a:solidFill>
              </a:rPr>
              <a:t>i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FF0000"/>
                </a:solidFill>
              </a:rPr>
              <a:t>in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rgbClr val="188038"/>
                </a:solidFill>
              </a:rPr>
              <a:t>range</a:t>
            </a:r>
            <a:r>
              <a:rPr lang="en" sz="1900">
                <a:solidFill>
                  <a:srgbClr val="666666"/>
                </a:solidFill>
              </a:rPr>
              <a:t>(n)) </a:t>
            </a:r>
            <a:r>
              <a:rPr lang="en" sz="1900">
                <a:solidFill>
                  <a:schemeClr val="dk1"/>
                </a:solidFill>
              </a:rPr>
              <a:t>is</a:t>
            </a:r>
            <a:r>
              <a:rPr lang="en" sz="1900">
                <a:solidFill>
                  <a:srgbClr val="666666"/>
                </a:solidFill>
              </a:rPr>
              <a:t> O(n) f</a:t>
            </a:r>
            <a:r>
              <a:rPr lang="en" sz="1900">
                <a:solidFill>
                  <a:schemeClr val="dk1"/>
                </a:solidFill>
              </a:rPr>
              <a:t>or every tour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280350" y="2124500"/>
            <a:ext cx="8583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dk1"/>
                </a:solidFill>
              </a:rPr>
              <a:t>Dominant term:</a:t>
            </a:r>
            <a:endParaRPr sz="17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dk2"/>
              </a:solidFill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1536000" y="4249025"/>
            <a:ext cx="60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Algorithm complexity: O(n!) factorial time, dominates everything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Wallclock Runtime</a:t>
            </a:r>
            <a:endParaRPr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908199" y="1856175"/>
            <a:ext cx="2817250" cy="328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816775"/>
            <a:ext cx="7534235" cy="415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4"/>
          <p:cNvSpPr txBox="1"/>
          <p:nvPr>
            <p:ph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Wallclock Runtime</a:t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195475" y="776975"/>
            <a:ext cx="43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Input Size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4572000" y="776975"/>
            <a:ext cx="437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Runtime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05150"/>
            <a:ext cx="8839199" cy="351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