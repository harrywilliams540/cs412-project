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dba756cf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dba756cf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dba756cf9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dba756cf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dba756cf9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dba756cf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dba756cf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dba756cf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dba756cf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dba756cf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dba756cf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dba756cf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dba756cf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dba756cf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dba756cf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dba756cf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dba756cf9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adba756cf9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adba756cf9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adba756cf9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dba756cf9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adba756cf9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700" y="903988"/>
            <a:ext cx="6464703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6655400" y="1322125"/>
            <a:ext cx="221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Complete, weighted graph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648925" y="2208675"/>
            <a:ext cx="23991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Visit every vertex once, except start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6648925" y="3280300"/>
            <a:ext cx="239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Find least cost path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883500" y="860425"/>
            <a:ext cx="201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Optimal: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What is the Traveling Salesman Problem?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-10170" l="-1880" r="1880" t="10170"/>
          <a:stretch/>
        </p:blipFill>
        <p:spPr>
          <a:xfrm>
            <a:off x="2632975" y="572700"/>
            <a:ext cx="3816948" cy="2893679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Optimal vs Decision</a:t>
            </a:r>
            <a:endParaRPr/>
          </a:p>
        </p:txBody>
      </p:sp>
      <p:pic>
        <p:nvPicPr>
          <p:cNvPr id="66" name="Google Shape;6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31550" y="2337090"/>
            <a:ext cx="4680899" cy="2766622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6894325" y="1324275"/>
            <a:ext cx="201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Decision: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-74425" y="1785963"/>
            <a:ext cx="2785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Visit every vertex once, except start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-59725" y="2537550"/>
            <a:ext cx="2535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Find least cost path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456575" y="1324275"/>
            <a:ext cx="201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Optimal: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-59725" y="3350950"/>
            <a:ext cx="275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F→C→E→D→A→F</a:t>
            </a:r>
            <a:endParaRPr sz="18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Cost: 11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6786625" y="1888425"/>
            <a:ext cx="22341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Find a tour that visits each city exactly once, total cost ≤ k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6818275" y="3160575"/>
            <a:ext cx="2170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returns a </a:t>
            </a:r>
            <a:r>
              <a:rPr b="1" lang="en" sz="1600">
                <a:solidFill>
                  <a:schemeClr val="dk1"/>
                </a:solidFill>
              </a:rPr>
              <a:t>yes </a:t>
            </a:r>
            <a:r>
              <a:rPr lang="en" sz="1600">
                <a:solidFill>
                  <a:schemeClr val="dk1"/>
                </a:solidFill>
              </a:rPr>
              <a:t>or </a:t>
            </a:r>
            <a:r>
              <a:rPr b="1" lang="en" sz="1600">
                <a:solidFill>
                  <a:schemeClr val="dk1"/>
                </a:solidFill>
              </a:rPr>
              <a:t>no</a:t>
            </a:r>
            <a:r>
              <a:rPr lang="en" sz="1600">
                <a:solidFill>
                  <a:schemeClr val="dk1"/>
                </a:solidFill>
              </a:rPr>
              <a:t> answer to this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Certifier Process</a:t>
            </a:r>
            <a:endParaRPr/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A certificate is just a </a:t>
            </a:r>
            <a:r>
              <a:rPr b="1" lang="en" sz="1600">
                <a:solidFill>
                  <a:schemeClr val="dk1"/>
                </a:solidFill>
              </a:rPr>
              <a:t>given tour</a:t>
            </a:r>
            <a:r>
              <a:rPr lang="en" sz="1600">
                <a:solidFill>
                  <a:schemeClr val="dk1"/>
                </a:solidFill>
              </a:rPr>
              <a:t>, e.g.: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Tour: F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C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E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D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A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F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Verifier checks:</a:t>
            </a:r>
            <a:endParaRPr sz="1600">
              <a:solidFill>
                <a:schemeClr val="dk1"/>
              </a:solidFill>
            </a:endParaRPr>
          </a:p>
          <a:p>
            <a:pPr indent="-32258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Does the tour visit every city once?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Does it return to the starting city?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Is the total weight ≤ k?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This takes </a:t>
            </a:r>
            <a:r>
              <a:rPr b="1" lang="en" sz="1600">
                <a:solidFill>
                  <a:schemeClr val="dk1"/>
                </a:solidFill>
              </a:rPr>
              <a:t>O(n) </a:t>
            </a:r>
            <a:r>
              <a:rPr lang="en" sz="1600">
                <a:solidFill>
                  <a:schemeClr val="dk1"/>
                </a:solidFill>
              </a:rPr>
              <a:t>time → </a:t>
            </a:r>
            <a:r>
              <a:rPr b="1" lang="en" sz="1600">
                <a:solidFill>
                  <a:schemeClr val="dk1"/>
                </a:solidFill>
              </a:rPr>
              <a:t>polynomial.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5050" y="1199625"/>
            <a:ext cx="4963074" cy="2933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Certifier Process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n-constant time steps:</a:t>
            </a:r>
            <a:endParaRPr sz="16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perform </a:t>
            </a:r>
            <a:r>
              <a:rPr b="1" lang="en" sz="1200">
                <a:solidFill>
                  <a:schemeClr val="dk1"/>
                </a:solidFill>
              </a:rPr>
              <a:t>one weight lookup</a:t>
            </a:r>
            <a:r>
              <a:rPr lang="en" sz="1200">
                <a:solidFill>
                  <a:schemeClr val="dk1"/>
                </a:solidFill>
              </a:rPr>
              <a:t> for each of the n edges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perform </a:t>
            </a:r>
            <a:r>
              <a:rPr b="1" lang="en" sz="1200">
                <a:solidFill>
                  <a:schemeClr val="dk1"/>
                </a:solidFill>
              </a:rPr>
              <a:t>one addition</a:t>
            </a:r>
            <a:r>
              <a:rPr lang="en" sz="1200">
                <a:solidFill>
                  <a:schemeClr val="dk1"/>
                </a:solidFill>
              </a:rPr>
              <a:t> per edge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8">
                <a:solidFill>
                  <a:schemeClr val="dk1"/>
                </a:solidFill>
              </a:rPr>
              <a:t>all constant-time operations for </a:t>
            </a:r>
            <a:r>
              <a:rPr b="1" lang="en" sz="1308">
                <a:solidFill>
                  <a:schemeClr val="dk1"/>
                </a:solidFill>
              </a:rPr>
              <a:t>n</a:t>
            </a:r>
            <a:endParaRPr b="1" sz="1308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32">
                <a:solidFill>
                  <a:schemeClr val="dk1"/>
                </a:solidFill>
              </a:rPr>
              <a:t>T(n) = n ⋅ O(1) = O(n)</a:t>
            </a:r>
            <a:endParaRPr sz="1732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4572000" y="854425"/>
            <a:ext cx="4431000" cy="37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 txBox="1"/>
          <p:nvPr/>
        </p:nvSpPr>
        <p:spPr>
          <a:xfrm>
            <a:off x="4728900" y="854425"/>
            <a:ext cx="4117200" cy="40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create array seen[1..n] initialized to false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total = 0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for i = 1 to n-1: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u = tour[i]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v = tour[i+1]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no edge (u,v) exists: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return REJECT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total = total + w(u,v)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if no edge (tour[n], tour[1]) exists: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REJECT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total = total + w(tour[n], tour[1])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99925"/>
            <a:ext cx="4149624" cy="298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05325" y="999937"/>
            <a:ext cx="4638674" cy="298697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/>
        </p:nvSpPr>
        <p:spPr>
          <a:xfrm>
            <a:off x="661138" y="4313550"/>
            <a:ext cx="25797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960">
                <a:solidFill>
                  <a:schemeClr val="dk1"/>
                </a:solidFill>
              </a:rPr>
              <a:t>Hamiltonian Cycle</a:t>
            </a:r>
            <a:endParaRPr sz="700"/>
          </a:p>
        </p:txBody>
      </p:sp>
      <p:sp>
        <p:nvSpPr>
          <p:cNvPr id="96" name="Google Shape;96;p17"/>
          <p:cNvSpPr/>
          <p:nvPr/>
        </p:nvSpPr>
        <p:spPr>
          <a:xfrm>
            <a:off x="3637200" y="4313550"/>
            <a:ext cx="1352700" cy="486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 txBox="1"/>
          <p:nvPr/>
        </p:nvSpPr>
        <p:spPr>
          <a:xfrm>
            <a:off x="5223000" y="4313550"/>
            <a:ext cx="36093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960">
                <a:solidFill>
                  <a:schemeClr val="dk1"/>
                </a:solidFill>
              </a:rPr>
              <a:t>Traveling Salesman Problem</a:t>
            </a:r>
            <a:endParaRPr sz="700"/>
          </a:p>
        </p:txBody>
      </p:sp>
      <p:sp>
        <p:nvSpPr>
          <p:cNvPr id="98" name="Google Shape;98;p17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Reduction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673625" y="572700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Let </a:t>
            </a: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be a new graph with edges between all pairs of vertices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Edges present in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r>
              <a:rPr lang="en" sz="1600">
                <a:solidFill>
                  <a:schemeClr val="dk1"/>
                </a:solidFill>
              </a:rPr>
              <a:t> assigned weight 0, new edges in </a:t>
            </a: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assigned weight 1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Constructed in polynomial time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354354" y="2857300"/>
            <a:ext cx="2898850" cy="292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310500"/>
            <a:ext cx="4702724" cy="300307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8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Reduction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idx="1" type="body"/>
          </p:nvPr>
        </p:nvSpPr>
        <p:spPr>
          <a:xfrm>
            <a:off x="4673625" y="1017725"/>
            <a:ext cx="4260300" cy="39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Graph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r>
              <a:rPr lang="en" sz="1600">
                <a:solidFill>
                  <a:schemeClr val="dk1"/>
                </a:solidFill>
              </a:rPr>
              <a:t> has HC if cycle in </a:t>
            </a: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passes through all vertices once, and has length of 0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Cycle contains only edges originally present in graph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endParaRPr i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If HC in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r>
              <a:rPr lang="en" sz="1600">
                <a:solidFill>
                  <a:schemeClr val="dk1"/>
                </a:solidFill>
              </a:rPr>
              <a:t>, it forms cycle in </a:t>
            </a:r>
            <a:r>
              <a:rPr i="1" lang="en" sz="1600">
                <a:solidFill>
                  <a:schemeClr val="dk1"/>
                </a:solidFill>
              </a:rPr>
              <a:t>G′ </a:t>
            </a:r>
            <a:r>
              <a:rPr lang="en" sz="1600">
                <a:solidFill>
                  <a:schemeClr val="dk1"/>
                </a:solidFill>
              </a:rPr>
              <a:t>with length of 0.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1000"/>
              </a:spcAft>
              <a:buClr>
                <a:schemeClr val="dk1"/>
              </a:buClr>
              <a:buSzPts val="1600"/>
              <a:buChar char="●"/>
            </a:pPr>
            <a:r>
              <a:rPr lang="en" sz="1600" u="sng">
                <a:solidFill>
                  <a:schemeClr val="dk1"/>
                </a:solidFill>
              </a:rPr>
              <a:t>Solution exists for TSP in </a:t>
            </a:r>
            <a:r>
              <a:rPr i="1" lang="en" sz="1600" u="sng">
                <a:solidFill>
                  <a:schemeClr val="dk1"/>
                </a:solidFill>
              </a:rPr>
              <a:t>G′ </a:t>
            </a:r>
            <a:r>
              <a:rPr lang="en" sz="1600" u="sng">
                <a:solidFill>
                  <a:schemeClr val="dk1"/>
                </a:solidFill>
              </a:rPr>
              <a:t>with length of 0</a:t>
            </a:r>
            <a:endParaRPr sz="1600" u="sng">
              <a:solidFill>
                <a:schemeClr val="dk1"/>
              </a:solidFill>
            </a:endParaRPr>
          </a:p>
        </p:txBody>
      </p:sp>
      <p:sp>
        <p:nvSpPr>
          <p:cNvPr id="112" name="Google Shape;112;p19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Reduction</a:t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775" y="1299975"/>
            <a:ext cx="4597048" cy="3028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Reduction</a:t>
            </a:r>
            <a:endParaRPr/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4572000" y="2159225"/>
            <a:ext cx="4260300" cy="13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1000"/>
              </a:spcAft>
              <a:buClr>
                <a:schemeClr val="dk1"/>
              </a:buClr>
              <a:buSzPts val="1600"/>
              <a:buChar char="●"/>
            </a:pP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has cycle passing through all vertices once with length of 0. This is a </a:t>
            </a:r>
            <a:r>
              <a:rPr b="1" lang="en" sz="1600">
                <a:solidFill>
                  <a:schemeClr val="dk1"/>
                </a:solidFill>
              </a:rPr>
              <a:t>Hamiltonian Cycle</a:t>
            </a:r>
            <a:r>
              <a:rPr lang="en" sz="1600">
                <a:solidFill>
                  <a:schemeClr val="dk1"/>
                </a:solidFill>
              </a:rPr>
              <a:t> in </a:t>
            </a:r>
            <a:r>
              <a:rPr i="1" lang="en" sz="1600">
                <a:solidFill>
                  <a:schemeClr val="dk1"/>
                </a:solidFill>
              </a:rPr>
              <a:t>G.</a:t>
            </a:r>
            <a:endParaRPr sz="1600" u="sng">
              <a:solidFill>
                <a:schemeClr val="dk1"/>
              </a:solidFill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775" y="1299975"/>
            <a:ext cx="4597048" cy="3028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704225" y="86328"/>
            <a:ext cx="4297125" cy="429715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1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Analytical Runtime</a:t>
            </a:r>
            <a:endParaRPr/>
          </a:p>
        </p:txBody>
      </p:sp>
      <p:sp>
        <p:nvSpPr>
          <p:cNvPr id="127" name="Google Shape;127;p21"/>
          <p:cNvSpPr txBox="1"/>
          <p:nvPr/>
        </p:nvSpPr>
        <p:spPr>
          <a:xfrm>
            <a:off x="311700" y="1135850"/>
            <a:ext cx="46590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Using a brute-force algorithm for TSP, every possible tour of the cities is examined: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264300" y="2507750"/>
            <a:ext cx="8615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FF0000"/>
                </a:solidFill>
              </a:rPr>
              <a:t>for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chemeClr val="dk2"/>
                </a:solidFill>
              </a:rPr>
              <a:t>perm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00"/>
                </a:solidFill>
              </a:rPr>
              <a:t>in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666666"/>
                </a:solidFill>
              </a:rPr>
              <a:t>itertools.permutations(</a:t>
            </a:r>
            <a:r>
              <a:rPr lang="en" sz="1900">
                <a:solidFill>
                  <a:srgbClr val="188038"/>
                </a:solidFill>
              </a:rPr>
              <a:t>range</a:t>
            </a:r>
            <a:r>
              <a:rPr lang="en" sz="1900">
                <a:solidFill>
                  <a:srgbClr val="666666"/>
                </a:solidFill>
              </a:rPr>
              <a:t>(</a:t>
            </a:r>
            <a:r>
              <a:rPr lang="en" sz="1900">
                <a:solidFill>
                  <a:srgbClr val="FF00FF"/>
                </a:solidFill>
              </a:rPr>
              <a:t>1</a:t>
            </a:r>
            <a:r>
              <a:rPr lang="en" sz="1900">
                <a:solidFill>
                  <a:srgbClr val="666666"/>
                </a:solidFill>
              </a:rPr>
              <a:t>, n)) </a:t>
            </a:r>
            <a:r>
              <a:rPr lang="en" sz="1900">
                <a:solidFill>
                  <a:schemeClr val="dk1"/>
                </a:solidFill>
              </a:rPr>
              <a:t>producing</a:t>
            </a:r>
            <a:r>
              <a:rPr lang="en" sz="1900">
                <a:solidFill>
                  <a:srgbClr val="666666"/>
                </a:solidFill>
              </a:rPr>
              <a:t> (n - 1)! </a:t>
            </a:r>
            <a:r>
              <a:rPr lang="en" sz="1900">
                <a:solidFill>
                  <a:schemeClr val="dk1"/>
                </a:solidFill>
              </a:rPr>
              <a:t>tours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2"/>
              </a:solidFill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280350" y="3355150"/>
            <a:ext cx="8583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cost = </a:t>
            </a:r>
            <a:r>
              <a:rPr lang="en" sz="1900">
                <a:solidFill>
                  <a:srgbClr val="188038"/>
                </a:solidFill>
              </a:rPr>
              <a:t>sum</a:t>
            </a:r>
            <a:r>
              <a:rPr lang="en" sz="1900">
                <a:solidFill>
                  <a:srgbClr val="666666"/>
                </a:solidFill>
              </a:rPr>
              <a:t>(dist[tour[i]][tour[i +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FF"/>
                </a:solidFill>
              </a:rPr>
              <a:t>1</a:t>
            </a:r>
            <a:r>
              <a:rPr lang="en" sz="1900">
                <a:solidFill>
                  <a:srgbClr val="666666"/>
                </a:solidFill>
              </a:rPr>
              <a:t>]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00"/>
                </a:solidFill>
              </a:rPr>
              <a:t>for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666666"/>
                </a:solidFill>
              </a:rPr>
              <a:t>i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00"/>
                </a:solidFill>
              </a:rPr>
              <a:t>in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188038"/>
                </a:solidFill>
              </a:rPr>
              <a:t>range</a:t>
            </a:r>
            <a:r>
              <a:rPr lang="en" sz="1900">
                <a:solidFill>
                  <a:srgbClr val="666666"/>
                </a:solidFill>
              </a:rPr>
              <a:t>(n)) </a:t>
            </a:r>
            <a:r>
              <a:rPr lang="en" sz="1900">
                <a:solidFill>
                  <a:schemeClr val="dk1"/>
                </a:solidFill>
              </a:rPr>
              <a:t>is</a:t>
            </a:r>
            <a:r>
              <a:rPr lang="en" sz="1900">
                <a:solidFill>
                  <a:srgbClr val="666666"/>
                </a:solidFill>
              </a:rPr>
              <a:t> O(n) f</a:t>
            </a:r>
            <a:r>
              <a:rPr lang="en" sz="1900">
                <a:solidFill>
                  <a:schemeClr val="dk1"/>
                </a:solidFill>
              </a:rPr>
              <a:t>or every tour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280350" y="2124500"/>
            <a:ext cx="8583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u="sng">
                <a:solidFill>
                  <a:schemeClr val="dk1"/>
                </a:solidFill>
              </a:rPr>
              <a:t>Dominant term:</a:t>
            </a:r>
            <a:endParaRPr sz="1700" u="sng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 u="sng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 u="sng">
              <a:solidFill>
                <a:schemeClr val="dk2"/>
              </a:solidFill>
            </a:endParaRPr>
          </a:p>
        </p:txBody>
      </p:sp>
      <p:sp>
        <p:nvSpPr>
          <p:cNvPr id="131" name="Google Shape;131;p21"/>
          <p:cNvSpPr txBox="1"/>
          <p:nvPr/>
        </p:nvSpPr>
        <p:spPr>
          <a:xfrm>
            <a:off x="1536000" y="4249025"/>
            <a:ext cx="6072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Algorithm complexity: O(n!) factorial time, dominates everything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Wallclock Runtime</a:t>
            </a:r>
            <a:endParaRPr/>
          </a:p>
        </p:txBody>
      </p:sp>
      <p:pic>
        <p:nvPicPr>
          <p:cNvPr id="137" name="Google Shape;13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6908199" y="1856175"/>
            <a:ext cx="2817250" cy="328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816775"/>
            <a:ext cx="7534235" cy="4151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Wallclock Runtime</a:t>
            </a:r>
            <a:endParaRPr/>
          </a:p>
        </p:txBody>
      </p:sp>
      <p:sp>
        <p:nvSpPr>
          <p:cNvPr id="144" name="Google Shape;144;p23"/>
          <p:cNvSpPr txBox="1"/>
          <p:nvPr/>
        </p:nvSpPr>
        <p:spPr>
          <a:xfrm>
            <a:off x="195475" y="776975"/>
            <a:ext cx="437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Input Size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5" name="Google Shape;145;p23"/>
          <p:cNvSpPr txBox="1"/>
          <p:nvPr/>
        </p:nvSpPr>
        <p:spPr>
          <a:xfrm>
            <a:off x="4572000" y="776975"/>
            <a:ext cx="437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Runtime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46" name="Google Shape;14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05150"/>
            <a:ext cx="8839199" cy="3514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