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adbc85ed7d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3adbc85ed7d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3adbc85ed7d_0_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" name="Google Shape;62;g3adbc85ed7d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adbc85ed7d_0_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3adbc85ed7d_0_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3adbc85ed7d_0_2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g3adbc85ed7d_0_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3adbc85ed7d_0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" name="Google Shape;91;g3adbc85ed7d_0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g3adbc85ed7d_0_4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" name="Google Shape;101;g3adbc85ed7d_0_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g3adbc85ed7d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9" name="Google Shape;109;g3adbc85ed7d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adbc85ed7d_0_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" name="Google Shape;116;g3adbc85ed7d_0_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adbc85ed7d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adbc85ed7d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g3adbc85ed7d_0_7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7" name="Google Shape;137;g3adbc85ed7d_0_7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g3adbc85ed7d_0_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4" name="Google Shape;144;g3adbc85ed7d_0_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6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Relationship Id="rId4" Type="http://schemas.openxmlformats.org/officeDocument/2006/relationships/image" Target="../media/image1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9700" y="903988"/>
            <a:ext cx="6464703" cy="3820974"/>
          </a:xfrm>
          <a:prstGeom prst="rect">
            <a:avLst/>
          </a:prstGeom>
          <a:noFill/>
          <a:ln>
            <a:noFill/>
          </a:ln>
        </p:spPr>
      </p:pic>
      <p:sp>
        <p:nvSpPr>
          <p:cNvPr id="55" name="Google Shape;55;p13"/>
          <p:cNvSpPr txBox="1"/>
          <p:nvPr/>
        </p:nvSpPr>
        <p:spPr>
          <a:xfrm>
            <a:off x="6655400" y="1322125"/>
            <a:ext cx="22155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" sz="1800">
                <a:solidFill>
                  <a:schemeClr val="dk1"/>
                </a:solidFill>
              </a:rPr>
              <a:t>Complete, weighted graph</a:t>
            </a:r>
            <a:endParaRPr sz="1800">
              <a:solidFill>
                <a:schemeClr val="dk1"/>
              </a:solidFill>
            </a:endParaRPr>
          </a:p>
        </p:txBody>
      </p:sp>
      <p:sp>
        <p:nvSpPr>
          <p:cNvPr id="56" name="Google Shape;56;p13"/>
          <p:cNvSpPr txBox="1"/>
          <p:nvPr/>
        </p:nvSpPr>
        <p:spPr>
          <a:xfrm>
            <a:off x="6648925" y="2208675"/>
            <a:ext cx="2399100" cy="101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" sz="1800">
                <a:solidFill>
                  <a:schemeClr val="dk1"/>
                </a:solidFill>
              </a:rPr>
              <a:t>Visit every vertex once, except start</a:t>
            </a:r>
            <a:endParaRPr sz="1800">
              <a:solidFill>
                <a:schemeClr val="dk1"/>
              </a:solidFill>
            </a:endParaRPr>
          </a:p>
        </p:txBody>
      </p:sp>
      <p:sp>
        <p:nvSpPr>
          <p:cNvPr id="57" name="Google Shape;57;p13"/>
          <p:cNvSpPr txBox="1"/>
          <p:nvPr/>
        </p:nvSpPr>
        <p:spPr>
          <a:xfrm>
            <a:off x="6648925" y="3280300"/>
            <a:ext cx="23991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" sz="1800">
                <a:solidFill>
                  <a:schemeClr val="dk1"/>
                </a:solidFill>
              </a:rPr>
              <a:t>Find least cost path</a:t>
            </a:r>
            <a:endParaRPr sz="1800">
              <a:solidFill>
                <a:schemeClr val="dk1"/>
              </a:solidFill>
            </a:endParaRPr>
          </a:p>
        </p:txBody>
      </p:sp>
      <p:sp>
        <p:nvSpPr>
          <p:cNvPr id="58" name="Google Shape;58;p13"/>
          <p:cNvSpPr txBox="1"/>
          <p:nvPr/>
        </p:nvSpPr>
        <p:spPr>
          <a:xfrm>
            <a:off x="6883500" y="860425"/>
            <a:ext cx="2018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chemeClr val="dk1"/>
                </a:solidFill>
              </a:rPr>
              <a:t>Optimal:</a:t>
            </a:r>
            <a:endParaRPr b="1" sz="1800">
              <a:solidFill>
                <a:schemeClr val="dk1"/>
              </a:solidFill>
            </a:endParaRPr>
          </a:p>
        </p:txBody>
      </p:sp>
      <p:sp>
        <p:nvSpPr>
          <p:cNvPr id="59" name="Google Shape;59;p13"/>
          <p:cNvSpPr txBox="1"/>
          <p:nvPr>
            <p:ph type="title"/>
          </p:nvPr>
        </p:nvSpPr>
        <p:spPr>
          <a:xfrm>
            <a:off x="0" y="0"/>
            <a:ext cx="9144000" cy="572700"/>
          </a:xfrm>
          <a:prstGeom prst="rect">
            <a:avLst/>
          </a:prstGeom>
          <a:solidFill>
            <a:srgbClr val="D9D9D9"/>
          </a:solidFill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5"/>
              <a:buFont typeface="Arial"/>
              <a:buNone/>
            </a:pPr>
            <a:r>
              <a:rPr lang="en"/>
              <a:t>What is the Traveling Salesman Problem?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4" name="Google Shape;64;p14"/>
          <p:cNvPicPr preferRelativeResize="0"/>
          <p:nvPr/>
        </p:nvPicPr>
        <p:blipFill rotWithShape="1">
          <a:blip r:embed="rId3">
            <a:alphaModFix/>
          </a:blip>
          <a:srcRect b="-10170" l="-1880" r="1880" t="10170"/>
          <a:stretch/>
        </p:blipFill>
        <p:spPr>
          <a:xfrm>
            <a:off x="2632975" y="572700"/>
            <a:ext cx="3816948" cy="2893679"/>
          </a:xfrm>
          <a:prstGeom prst="rect">
            <a:avLst/>
          </a:prstGeom>
          <a:noFill/>
          <a:ln>
            <a:noFill/>
          </a:ln>
        </p:spPr>
      </p:pic>
      <p:sp>
        <p:nvSpPr>
          <p:cNvPr id="65" name="Google Shape;65;p14"/>
          <p:cNvSpPr txBox="1"/>
          <p:nvPr>
            <p:ph type="title"/>
          </p:nvPr>
        </p:nvSpPr>
        <p:spPr>
          <a:xfrm>
            <a:off x="0" y="0"/>
            <a:ext cx="9144000" cy="572700"/>
          </a:xfrm>
          <a:prstGeom prst="rect">
            <a:avLst/>
          </a:prstGeom>
          <a:solidFill>
            <a:srgbClr val="D9D9D9"/>
          </a:solidFill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Optimal vs Decision</a:t>
            </a:r>
            <a:endParaRPr/>
          </a:p>
        </p:txBody>
      </p:sp>
      <p:pic>
        <p:nvPicPr>
          <p:cNvPr id="66" name="Google Shape;66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231550" y="2337090"/>
            <a:ext cx="4680899" cy="2766622"/>
          </a:xfrm>
          <a:prstGeom prst="rect">
            <a:avLst/>
          </a:prstGeom>
          <a:noFill/>
          <a:ln>
            <a:noFill/>
          </a:ln>
        </p:spPr>
      </p:pic>
      <p:sp>
        <p:nvSpPr>
          <p:cNvPr id="67" name="Google Shape;67;p14"/>
          <p:cNvSpPr txBox="1"/>
          <p:nvPr/>
        </p:nvSpPr>
        <p:spPr>
          <a:xfrm>
            <a:off x="6894325" y="1324275"/>
            <a:ext cx="2018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chemeClr val="dk1"/>
                </a:solidFill>
              </a:rPr>
              <a:t>Decision:</a:t>
            </a:r>
            <a:endParaRPr b="1" sz="1800">
              <a:solidFill>
                <a:schemeClr val="dk1"/>
              </a:solidFill>
            </a:endParaRPr>
          </a:p>
        </p:txBody>
      </p:sp>
      <p:sp>
        <p:nvSpPr>
          <p:cNvPr id="68" name="Google Shape;68;p14"/>
          <p:cNvSpPr txBox="1"/>
          <p:nvPr/>
        </p:nvSpPr>
        <p:spPr>
          <a:xfrm>
            <a:off x="-74425" y="1785963"/>
            <a:ext cx="27852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" sz="1800">
                <a:solidFill>
                  <a:schemeClr val="dk1"/>
                </a:solidFill>
              </a:rPr>
              <a:t>Visit every vertex once, except start</a:t>
            </a:r>
            <a:endParaRPr sz="1800">
              <a:solidFill>
                <a:schemeClr val="dk1"/>
              </a:solidFill>
            </a:endParaRPr>
          </a:p>
        </p:txBody>
      </p:sp>
      <p:sp>
        <p:nvSpPr>
          <p:cNvPr id="69" name="Google Shape;69;p14"/>
          <p:cNvSpPr txBox="1"/>
          <p:nvPr/>
        </p:nvSpPr>
        <p:spPr>
          <a:xfrm>
            <a:off x="-59725" y="2537550"/>
            <a:ext cx="25350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" sz="1800">
                <a:solidFill>
                  <a:schemeClr val="dk1"/>
                </a:solidFill>
              </a:rPr>
              <a:t>Find least cost path</a:t>
            </a:r>
            <a:endParaRPr sz="1800">
              <a:solidFill>
                <a:schemeClr val="dk1"/>
              </a:solidFill>
            </a:endParaRPr>
          </a:p>
        </p:txBody>
      </p:sp>
      <p:sp>
        <p:nvSpPr>
          <p:cNvPr id="70" name="Google Shape;70;p14"/>
          <p:cNvSpPr txBox="1"/>
          <p:nvPr/>
        </p:nvSpPr>
        <p:spPr>
          <a:xfrm>
            <a:off x="456575" y="1324275"/>
            <a:ext cx="2018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chemeClr val="dk1"/>
                </a:solidFill>
              </a:rPr>
              <a:t>Optimal:</a:t>
            </a:r>
            <a:endParaRPr b="1" sz="1800">
              <a:solidFill>
                <a:schemeClr val="dk1"/>
              </a:solidFill>
            </a:endParaRPr>
          </a:p>
        </p:txBody>
      </p:sp>
      <p:sp>
        <p:nvSpPr>
          <p:cNvPr id="71" name="Google Shape;71;p14"/>
          <p:cNvSpPr txBox="1"/>
          <p:nvPr/>
        </p:nvSpPr>
        <p:spPr>
          <a:xfrm>
            <a:off x="-59725" y="3350950"/>
            <a:ext cx="27558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" sz="1800">
                <a:solidFill>
                  <a:schemeClr val="dk1"/>
                </a:solidFill>
              </a:rPr>
              <a:t>F→C→E→D→A→F</a:t>
            </a:r>
            <a:endParaRPr sz="1800">
              <a:solidFill>
                <a:schemeClr val="dk1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</a:rPr>
              <a:t>Cost: 11</a:t>
            </a:r>
            <a:endParaRPr sz="1800">
              <a:solidFill>
                <a:schemeClr val="dk1"/>
              </a:solidFill>
            </a:endParaRPr>
          </a:p>
        </p:txBody>
      </p:sp>
      <p:sp>
        <p:nvSpPr>
          <p:cNvPr id="72" name="Google Shape;72;p14"/>
          <p:cNvSpPr txBox="1"/>
          <p:nvPr/>
        </p:nvSpPr>
        <p:spPr>
          <a:xfrm>
            <a:off x="6786625" y="1888425"/>
            <a:ext cx="2234100" cy="1169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</a:pPr>
            <a:r>
              <a:rPr lang="en" sz="1600">
                <a:solidFill>
                  <a:schemeClr val="dk1"/>
                </a:solidFill>
              </a:rPr>
              <a:t>Find a tour that visits each city exactly once, total cost ≤ k</a:t>
            </a:r>
            <a:endParaRPr sz="1600">
              <a:solidFill>
                <a:schemeClr val="dk1"/>
              </a:solidFill>
            </a:endParaRPr>
          </a:p>
        </p:txBody>
      </p:sp>
      <p:sp>
        <p:nvSpPr>
          <p:cNvPr id="73" name="Google Shape;73;p14"/>
          <p:cNvSpPr txBox="1"/>
          <p:nvPr/>
        </p:nvSpPr>
        <p:spPr>
          <a:xfrm>
            <a:off x="6818275" y="3160575"/>
            <a:ext cx="2170800" cy="9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</a:pPr>
            <a:r>
              <a:rPr lang="en" sz="1600">
                <a:solidFill>
                  <a:schemeClr val="dk1"/>
                </a:solidFill>
              </a:rPr>
              <a:t>returns a </a:t>
            </a:r>
            <a:r>
              <a:rPr b="1" lang="en" sz="1600">
                <a:solidFill>
                  <a:schemeClr val="dk1"/>
                </a:solidFill>
              </a:rPr>
              <a:t>yes </a:t>
            </a:r>
            <a:r>
              <a:rPr lang="en" sz="1600">
                <a:solidFill>
                  <a:schemeClr val="dk1"/>
                </a:solidFill>
              </a:rPr>
              <a:t>or </a:t>
            </a:r>
            <a:r>
              <a:rPr b="1" lang="en" sz="1600">
                <a:solidFill>
                  <a:schemeClr val="dk1"/>
                </a:solidFill>
              </a:rPr>
              <a:t>no</a:t>
            </a:r>
            <a:r>
              <a:rPr lang="en" sz="1600">
                <a:solidFill>
                  <a:schemeClr val="dk1"/>
                </a:solidFill>
              </a:rPr>
              <a:t> answer to this</a:t>
            </a:r>
            <a:endParaRPr sz="16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5"/>
          <p:cNvSpPr txBox="1"/>
          <p:nvPr>
            <p:ph type="title"/>
          </p:nvPr>
        </p:nvSpPr>
        <p:spPr>
          <a:xfrm>
            <a:off x="0" y="0"/>
            <a:ext cx="9144000" cy="572700"/>
          </a:xfrm>
          <a:prstGeom prst="rect">
            <a:avLst/>
          </a:prstGeom>
          <a:solidFill>
            <a:srgbClr val="D9D9D9"/>
          </a:solidFill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Certifier Process</a:t>
            </a:r>
            <a:endParaRPr/>
          </a:p>
        </p:txBody>
      </p:sp>
      <p:sp>
        <p:nvSpPr>
          <p:cNvPr id="79" name="Google Shape;79;p1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</a:rPr>
              <a:t>A certificate is just a </a:t>
            </a:r>
            <a:r>
              <a:rPr b="1" lang="en" sz="1600">
                <a:solidFill>
                  <a:schemeClr val="dk1"/>
                </a:solidFill>
              </a:rPr>
              <a:t>given tour</a:t>
            </a:r>
            <a:r>
              <a:rPr lang="en" sz="1600">
                <a:solidFill>
                  <a:schemeClr val="dk1"/>
                </a:solidFill>
              </a:rPr>
              <a:t>, e.g.:</a:t>
            </a:r>
            <a:endParaRPr sz="16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</a:rPr>
              <a:t>Tour: F</a:t>
            </a:r>
            <a:r>
              <a:rPr lang="en" sz="1400">
                <a:solidFill>
                  <a:schemeClr val="dk1"/>
                </a:solidFill>
              </a:rPr>
              <a:t>→</a:t>
            </a:r>
            <a:r>
              <a:rPr lang="en" sz="1600">
                <a:solidFill>
                  <a:schemeClr val="dk1"/>
                </a:solidFill>
              </a:rPr>
              <a:t>C</a:t>
            </a:r>
            <a:r>
              <a:rPr lang="en" sz="1400">
                <a:solidFill>
                  <a:schemeClr val="dk1"/>
                </a:solidFill>
              </a:rPr>
              <a:t>→</a:t>
            </a:r>
            <a:r>
              <a:rPr lang="en" sz="1600">
                <a:solidFill>
                  <a:schemeClr val="dk1"/>
                </a:solidFill>
              </a:rPr>
              <a:t>E</a:t>
            </a:r>
            <a:r>
              <a:rPr lang="en" sz="1400">
                <a:solidFill>
                  <a:schemeClr val="dk1"/>
                </a:solidFill>
              </a:rPr>
              <a:t>→</a:t>
            </a:r>
            <a:r>
              <a:rPr lang="en" sz="1600">
                <a:solidFill>
                  <a:schemeClr val="dk1"/>
                </a:solidFill>
              </a:rPr>
              <a:t>D</a:t>
            </a:r>
            <a:r>
              <a:rPr lang="en" sz="1400">
                <a:solidFill>
                  <a:schemeClr val="dk1"/>
                </a:solidFill>
              </a:rPr>
              <a:t>→</a:t>
            </a:r>
            <a:r>
              <a:rPr lang="en" sz="1600">
                <a:solidFill>
                  <a:schemeClr val="dk1"/>
                </a:solidFill>
              </a:rPr>
              <a:t>A</a:t>
            </a:r>
            <a:r>
              <a:rPr lang="en" sz="1400">
                <a:solidFill>
                  <a:schemeClr val="dk1"/>
                </a:solidFill>
              </a:rPr>
              <a:t>→</a:t>
            </a:r>
            <a:r>
              <a:rPr lang="en" sz="1600">
                <a:solidFill>
                  <a:schemeClr val="dk1"/>
                </a:solidFill>
              </a:rPr>
              <a:t>F</a:t>
            </a:r>
            <a:endParaRPr sz="16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</a:rPr>
              <a:t>Verifier checks:</a:t>
            </a:r>
            <a:endParaRPr sz="1600">
              <a:solidFill>
                <a:schemeClr val="dk1"/>
              </a:solidFill>
            </a:endParaRPr>
          </a:p>
          <a:p>
            <a:pPr indent="-322580" lvl="0" marL="45720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100000"/>
              <a:buAutoNum type="arabicPeriod"/>
            </a:pPr>
            <a:r>
              <a:rPr lang="en" sz="1600">
                <a:solidFill>
                  <a:schemeClr val="dk1"/>
                </a:solidFill>
              </a:rPr>
              <a:t>Does the tour visit every city once?</a:t>
            </a:r>
            <a:br>
              <a:rPr lang="en" sz="1600">
                <a:solidFill>
                  <a:schemeClr val="dk1"/>
                </a:solidFill>
              </a:rPr>
            </a:br>
            <a:endParaRPr sz="1600">
              <a:solidFill>
                <a:schemeClr val="dk1"/>
              </a:solidFill>
            </a:endParaRPr>
          </a:p>
          <a:p>
            <a:pPr indent="-32258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AutoNum type="arabicPeriod"/>
            </a:pPr>
            <a:r>
              <a:rPr lang="en" sz="1600">
                <a:solidFill>
                  <a:schemeClr val="dk1"/>
                </a:solidFill>
              </a:rPr>
              <a:t>Does it return to the starting city?</a:t>
            </a:r>
            <a:br>
              <a:rPr lang="en" sz="1600">
                <a:solidFill>
                  <a:schemeClr val="dk1"/>
                </a:solidFill>
              </a:rPr>
            </a:br>
            <a:endParaRPr sz="1600">
              <a:solidFill>
                <a:schemeClr val="dk1"/>
              </a:solidFill>
            </a:endParaRPr>
          </a:p>
          <a:p>
            <a:pPr indent="-32258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AutoNum type="arabicPeriod"/>
            </a:pPr>
            <a:r>
              <a:rPr lang="en" sz="1600">
                <a:solidFill>
                  <a:schemeClr val="dk1"/>
                </a:solidFill>
              </a:rPr>
              <a:t>Is the total weight ≤ k?</a:t>
            </a:r>
            <a:br>
              <a:rPr lang="en" sz="1600">
                <a:solidFill>
                  <a:schemeClr val="dk1"/>
                </a:solidFill>
              </a:rPr>
            </a:br>
            <a:endParaRPr sz="16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1600">
                <a:solidFill>
                  <a:schemeClr val="dk1"/>
                </a:solidFill>
              </a:rPr>
              <a:t>This takes </a:t>
            </a:r>
            <a:r>
              <a:rPr b="1" lang="en" sz="1600">
                <a:solidFill>
                  <a:schemeClr val="dk1"/>
                </a:solidFill>
              </a:rPr>
              <a:t>O(n) </a:t>
            </a:r>
            <a:r>
              <a:rPr lang="en" sz="1600">
                <a:solidFill>
                  <a:schemeClr val="dk1"/>
                </a:solidFill>
              </a:rPr>
              <a:t>time → </a:t>
            </a:r>
            <a:r>
              <a:rPr b="1" lang="en" sz="1600">
                <a:solidFill>
                  <a:schemeClr val="dk1"/>
                </a:solidFill>
              </a:rPr>
              <a:t>polynomial.</a:t>
            </a:r>
            <a:endParaRPr b="1" sz="1600">
              <a:solidFill>
                <a:schemeClr val="dk1"/>
              </a:solidFill>
            </a:endParaRPr>
          </a:p>
        </p:txBody>
      </p:sp>
      <p:pic>
        <p:nvPicPr>
          <p:cNvPr id="80" name="Google Shape;80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075050" y="1199625"/>
            <a:ext cx="4963074" cy="29334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6"/>
          <p:cNvSpPr txBox="1"/>
          <p:nvPr>
            <p:ph type="title"/>
          </p:nvPr>
        </p:nvSpPr>
        <p:spPr>
          <a:xfrm>
            <a:off x="0" y="0"/>
            <a:ext cx="9144000" cy="572700"/>
          </a:xfrm>
          <a:prstGeom prst="rect">
            <a:avLst/>
          </a:prstGeom>
          <a:solidFill>
            <a:srgbClr val="D9D9D9"/>
          </a:solidFill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Certifier Process</a:t>
            </a:r>
            <a:endParaRPr/>
          </a:p>
        </p:txBody>
      </p:sp>
      <p:sp>
        <p:nvSpPr>
          <p:cNvPr id="86" name="Google Shape;86;p16"/>
          <p:cNvSpPr txBox="1"/>
          <p:nvPr>
            <p:ph idx="1" type="body"/>
          </p:nvPr>
        </p:nvSpPr>
        <p:spPr>
          <a:xfrm>
            <a:off x="311700" y="1152475"/>
            <a:ext cx="42603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</a:rPr>
              <a:t>n-constant time steps:</a:t>
            </a:r>
            <a:endParaRPr sz="1600">
              <a:solidFill>
                <a:schemeClr val="dk1"/>
              </a:solidFill>
            </a:endParaRPr>
          </a:p>
          <a:p>
            <a:pPr indent="-304800" lvl="0" marL="45720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en" sz="1200">
                <a:solidFill>
                  <a:schemeClr val="dk1"/>
                </a:solidFill>
              </a:rPr>
              <a:t>perform </a:t>
            </a:r>
            <a:r>
              <a:rPr b="1" lang="en" sz="1200">
                <a:solidFill>
                  <a:schemeClr val="dk1"/>
                </a:solidFill>
              </a:rPr>
              <a:t>one weight lookup</a:t>
            </a:r>
            <a:r>
              <a:rPr lang="en" sz="1200">
                <a:solidFill>
                  <a:schemeClr val="dk1"/>
                </a:solidFill>
              </a:rPr>
              <a:t> for each of the n edges</a:t>
            </a:r>
            <a:endParaRPr sz="1200">
              <a:solidFill>
                <a:schemeClr val="dk1"/>
              </a:solidFill>
            </a:endParaRPr>
          </a:p>
          <a:p>
            <a:pPr indent="0" lvl="0" marL="91440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</a:endParaRPr>
          </a:p>
          <a:p>
            <a:pPr indent="-304800" lvl="0" marL="45720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en" sz="1200">
                <a:solidFill>
                  <a:schemeClr val="dk1"/>
                </a:solidFill>
              </a:rPr>
              <a:t>perform </a:t>
            </a:r>
            <a:r>
              <a:rPr b="1" lang="en" sz="1200">
                <a:solidFill>
                  <a:schemeClr val="dk1"/>
                </a:solidFill>
              </a:rPr>
              <a:t>one addition</a:t>
            </a:r>
            <a:r>
              <a:rPr lang="en" sz="1200">
                <a:solidFill>
                  <a:schemeClr val="dk1"/>
                </a:solidFill>
              </a:rPr>
              <a:t> per edge</a:t>
            </a:r>
            <a:endParaRPr sz="12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308">
                <a:solidFill>
                  <a:schemeClr val="dk1"/>
                </a:solidFill>
              </a:rPr>
              <a:t>all constant-time operations for </a:t>
            </a:r>
            <a:r>
              <a:rPr b="1" lang="en" sz="1308">
                <a:solidFill>
                  <a:schemeClr val="dk1"/>
                </a:solidFill>
              </a:rPr>
              <a:t>n</a:t>
            </a:r>
            <a:endParaRPr b="1" sz="1308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732">
                <a:solidFill>
                  <a:schemeClr val="dk1"/>
                </a:solidFill>
              </a:rPr>
              <a:t>T(n) = n ⋅ O(1) = O(n)</a:t>
            </a:r>
            <a:endParaRPr sz="1732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</a:endParaRPr>
          </a:p>
        </p:txBody>
      </p:sp>
      <p:sp>
        <p:nvSpPr>
          <p:cNvPr id="87" name="Google Shape;87;p16"/>
          <p:cNvSpPr/>
          <p:nvPr/>
        </p:nvSpPr>
        <p:spPr>
          <a:xfrm>
            <a:off x="4572000" y="854425"/>
            <a:ext cx="4431000" cy="37932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" name="Google Shape;88;p16"/>
          <p:cNvSpPr txBox="1"/>
          <p:nvPr/>
        </p:nvSpPr>
        <p:spPr>
          <a:xfrm>
            <a:off x="4728900" y="854425"/>
            <a:ext cx="4117200" cy="4012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create array seen[1..n] initialized to false</a:t>
            </a:r>
            <a:endParaRPr sz="11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 total = 0</a:t>
            </a:r>
            <a:endParaRPr sz="11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 for i = 1 to n-1:</a:t>
            </a:r>
            <a:endParaRPr sz="11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     u = tour[i]</a:t>
            </a:r>
            <a:endParaRPr sz="11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     v = tour[i+1]</a:t>
            </a:r>
            <a:endParaRPr sz="11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     if no edge (u,v) exists:</a:t>
            </a:r>
            <a:endParaRPr sz="11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return REJECT</a:t>
            </a:r>
            <a:endParaRPr sz="11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     total = total + w(u,v)</a:t>
            </a:r>
            <a:endParaRPr sz="11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 if no edge (tour[n], tour[1]) exists:</a:t>
            </a:r>
            <a:endParaRPr sz="11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     return REJECT</a:t>
            </a:r>
            <a:endParaRPr sz="11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 total = total + w(tour[n], tour[1])</a:t>
            </a:r>
            <a:endParaRPr sz="11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3" name="Google Shape;93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999925"/>
            <a:ext cx="4149624" cy="2986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1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505325" y="999937"/>
            <a:ext cx="4638674" cy="2986974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7"/>
          <p:cNvSpPr txBox="1"/>
          <p:nvPr/>
        </p:nvSpPr>
        <p:spPr>
          <a:xfrm>
            <a:off x="661138" y="4313550"/>
            <a:ext cx="2579700" cy="486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b="1" lang="en" sz="1960">
                <a:solidFill>
                  <a:schemeClr val="dk1"/>
                </a:solidFill>
              </a:rPr>
              <a:t>Hamiltonian Cycle</a:t>
            </a:r>
            <a:endParaRPr sz="700"/>
          </a:p>
        </p:txBody>
      </p:sp>
      <p:sp>
        <p:nvSpPr>
          <p:cNvPr id="96" name="Google Shape;96;p17"/>
          <p:cNvSpPr/>
          <p:nvPr/>
        </p:nvSpPr>
        <p:spPr>
          <a:xfrm>
            <a:off x="3637200" y="4313550"/>
            <a:ext cx="1352700" cy="486300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lt2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" name="Google Shape;97;p17"/>
          <p:cNvSpPr txBox="1"/>
          <p:nvPr/>
        </p:nvSpPr>
        <p:spPr>
          <a:xfrm>
            <a:off x="5223000" y="4313550"/>
            <a:ext cx="3609300" cy="486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b="1" lang="en" sz="1960">
                <a:solidFill>
                  <a:schemeClr val="dk1"/>
                </a:solidFill>
              </a:rPr>
              <a:t>Traveling Salesman Problem</a:t>
            </a:r>
            <a:endParaRPr sz="700"/>
          </a:p>
        </p:txBody>
      </p:sp>
      <p:sp>
        <p:nvSpPr>
          <p:cNvPr id="98" name="Google Shape;98;p17"/>
          <p:cNvSpPr txBox="1"/>
          <p:nvPr>
            <p:ph type="title"/>
          </p:nvPr>
        </p:nvSpPr>
        <p:spPr>
          <a:xfrm>
            <a:off x="0" y="0"/>
            <a:ext cx="9144000" cy="572700"/>
          </a:xfrm>
          <a:prstGeom prst="rect">
            <a:avLst/>
          </a:prstGeom>
          <a:solidFill>
            <a:srgbClr val="D9D9D9"/>
          </a:solidFill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5"/>
              <a:buFont typeface="Arial"/>
              <a:buNone/>
            </a:pPr>
            <a:r>
              <a:rPr lang="en"/>
              <a:t>Reduction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18"/>
          <p:cNvSpPr txBox="1"/>
          <p:nvPr>
            <p:ph idx="1" type="body"/>
          </p:nvPr>
        </p:nvSpPr>
        <p:spPr>
          <a:xfrm>
            <a:off x="4673625" y="572700"/>
            <a:ext cx="42603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</a:pPr>
            <a:r>
              <a:rPr lang="en" sz="1600">
                <a:solidFill>
                  <a:schemeClr val="dk1"/>
                </a:solidFill>
              </a:rPr>
              <a:t>Let </a:t>
            </a:r>
            <a:r>
              <a:rPr i="1" lang="en" sz="1600">
                <a:solidFill>
                  <a:schemeClr val="dk1"/>
                </a:solidFill>
              </a:rPr>
              <a:t>G′</a:t>
            </a:r>
            <a:r>
              <a:rPr lang="en" sz="1600">
                <a:solidFill>
                  <a:schemeClr val="dk1"/>
                </a:solidFill>
              </a:rPr>
              <a:t> be a new graph with edges between all pairs of vertices</a:t>
            </a:r>
            <a:endParaRPr sz="1600">
              <a:solidFill>
                <a:schemeClr val="dk1"/>
              </a:solidFill>
            </a:endParaRPr>
          </a:p>
          <a:p>
            <a:pPr indent="-330200" lvl="0" marL="45720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</a:pPr>
            <a:r>
              <a:rPr lang="en" sz="1600">
                <a:solidFill>
                  <a:schemeClr val="dk1"/>
                </a:solidFill>
              </a:rPr>
              <a:t>Edges present in </a:t>
            </a:r>
            <a:r>
              <a:rPr i="1" lang="en" sz="1600">
                <a:solidFill>
                  <a:schemeClr val="dk1"/>
                </a:solidFill>
              </a:rPr>
              <a:t>G</a:t>
            </a:r>
            <a:r>
              <a:rPr lang="en" sz="1600">
                <a:solidFill>
                  <a:schemeClr val="dk1"/>
                </a:solidFill>
              </a:rPr>
              <a:t> assigned weight 0, new edges in </a:t>
            </a:r>
            <a:r>
              <a:rPr i="1" lang="en" sz="1600">
                <a:solidFill>
                  <a:schemeClr val="dk1"/>
                </a:solidFill>
              </a:rPr>
              <a:t>G′</a:t>
            </a:r>
            <a:r>
              <a:rPr lang="en" sz="1600">
                <a:solidFill>
                  <a:schemeClr val="dk1"/>
                </a:solidFill>
              </a:rPr>
              <a:t> assigned weight 1</a:t>
            </a:r>
            <a:endParaRPr sz="1600">
              <a:solidFill>
                <a:schemeClr val="dk1"/>
              </a:solidFill>
            </a:endParaRPr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</a:pPr>
            <a:r>
              <a:rPr lang="en" sz="1600">
                <a:solidFill>
                  <a:schemeClr val="dk1"/>
                </a:solidFill>
              </a:rPr>
              <a:t>Constructed in polynomial time</a:t>
            </a:r>
            <a:endParaRPr sz="16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</a:endParaRPr>
          </a:p>
        </p:txBody>
      </p:sp>
      <p:pic>
        <p:nvPicPr>
          <p:cNvPr id="104" name="Google Shape;104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flipH="1">
            <a:off x="5354354" y="2857300"/>
            <a:ext cx="2898850" cy="292235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5" name="Google Shape;105;p1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1310500"/>
            <a:ext cx="4702724" cy="3003074"/>
          </a:xfrm>
          <a:prstGeom prst="rect">
            <a:avLst/>
          </a:prstGeom>
          <a:noFill/>
          <a:ln>
            <a:noFill/>
          </a:ln>
        </p:spPr>
      </p:pic>
      <p:sp>
        <p:nvSpPr>
          <p:cNvPr id="106" name="Google Shape;106;p18"/>
          <p:cNvSpPr txBox="1"/>
          <p:nvPr>
            <p:ph type="title"/>
          </p:nvPr>
        </p:nvSpPr>
        <p:spPr>
          <a:xfrm>
            <a:off x="0" y="0"/>
            <a:ext cx="9144000" cy="572700"/>
          </a:xfrm>
          <a:prstGeom prst="rect">
            <a:avLst/>
          </a:prstGeom>
          <a:solidFill>
            <a:srgbClr val="D9D9D9"/>
          </a:solidFill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Reduction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9"/>
          <p:cNvSpPr txBox="1"/>
          <p:nvPr>
            <p:ph idx="1" type="body"/>
          </p:nvPr>
        </p:nvSpPr>
        <p:spPr>
          <a:xfrm>
            <a:off x="4673625" y="1017725"/>
            <a:ext cx="4260300" cy="3919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</a:pPr>
            <a:r>
              <a:rPr lang="en" sz="1600">
                <a:solidFill>
                  <a:schemeClr val="dk1"/>
                </a:solidFill>
              </a:rPr>
              <a:t>Graph </a:t>
            </a:r>
            <a:r>
              <a:rPr i="1" lang="en" sz="1600">
                <a:solidFill>
                  <a:schemeClr val="dk1"/>
                </a:solidFill>
              </a:rPr>
              <a:t>G</a:t>
            </a:r>
            <a:r>
              <a:rPr lang="en" sz="1600">
                <a:solidFill>
                  <a:schemeClr val="dk1"/>
                </a:solidFill>
              </a:rPr>
              <a:t> has HC if cycle in </a:t>
            </a:r>
            <a:r>
              <a:rPr i="1" lang="en" sz="1600">
                <a:solidFill>
                  <a:schemeClr val="dk1"/>
                </a:solidFill>
              </a:rPr>
              <a:t>G′</a:t>
            </a:r>
            <a:r>
              <a:rPr lang="en" sz="1600">
                <a:solidFill>
                  <a:schemeClr val="dk1"/>
                </a:solidFill>
              </a:rPr>
              <a:t> passes through all vertices once, and has length of 0</a:t>
            </a:r>
            <a:endParaRPr sz="1600">
              <a:solidFill>
                <a:schemeClr val="dk1"/>
              </a:solidFill>
            </a:endParaRPr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</a:pPr>
            <a:r>
              <a:rPr lang="en" sz="1600">
                <a:solidFill>
                  <a:schemeClr val="dk1"/>
                </a:solidFill>
              </a:rPr>
              <a:t>Cycle contains only edges originally present in graph </a:t>
            </a:r>
            <a:r>
              <a:rPr i="1" lang="en" sz="1600">
                <a:solidFill>
                  <a:schemeClr val="dk1"/>
                </a:solidFill>
              </a:rPr>
              <a:t>G</a:t>
            </a:r>
            <a:endParaRPr i="1" sz="1600">
              <a:solidFill>
                <a:schemeClr val="dk1"/>
              </a:solidFill>
            </a:endParaRPr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</a:pPr>
            <a:r>
              <a:rPr lang="en" sz="1600">
                <a:solidFill>
                  <a:schemeClr val="dk1"/>
                </a:solidFill>
              </a:rPr>
              <a:t>If HC in </a:t>
            </a:r>
            <a:r>
              <a:rPr i="1" lang="en" sz="1600">
                <a:solidFill>
                  <a:schemeClr val="dk1"/>
                </a:solidFill>
              </a:rPr>
              <a:t>G</a:t>
            </a:r>
            <a:r>
              <a:rPr lang="en" sz="1600">
                <a:solidFill>
                  <a:schemeClr val="dk1"/>
                </a:solidFill>
              </a:rPr>
              <a:t>, it forms cycle in </a:t>
            </a:r>
            <a:r>
              <a:rPr i="1" lang="en" sz="1600">
                <a:solidFill>
                  <a:schemeClr val="dk1"/>
                </a:solidFill>
              </a:rPr>
              <a:t>G′ </a:t>
            </a:r>
            <a:r>
              <a:rPr lang="en" sz="1600">
                <a:solidFill>
                  <a:schemeClr val="dk1"/>
                </a:solidFill>
              </a:rPr>
              <a:t>with length of 0. </a:t>
            </a:r>
            <a:endParaRPr sz="1600">
              <a:solidFill>
                <a:schemeClr val="dk1"/>
              </a:solidFill>
            </a:endParaRPr>
          </a:p>
          <a:p>
            <a:pPr indent="-330200" lvl="0" marL="457200" rtl="0" algn="l">
              <a:spcBef>
                <a:spcPts val="1200"/>
              </a:spcBef>
              <a:spcAft>
                <a:spcPts val="1000"/>
              </a:spcAft>
              <a:buClr>
                <a:schemeClr val="dk1"/>
              </a:buClr>
              <a:buSzPts val="1600"/>
              <a:buChar char="●"/>
            </a:pPr>
            <a:r>
              <a:rPr lang="en" sz="1600" u="sng">
                <a:solidFill>
                  <a:schemeClr val="dk1"/>
                </a:solidFill>
              </a:rPr>
              <a:t>Solution exists for TSP in </a:t>
            </a:r>
            <a:r>
              <a:rPr i="1" lang="en" sz="1600" u="sng">
                <a:solidFill>
                  <a:schemeClr val="dk1"/>
                </a:solidFill>
              </a:rPr>
              <a:t>G′ </a:t>
            </a:r>
            <a:r>
              <a:rPr lang="en" sz="1600" u="sng">
                <a:solidFill>
                  <a:schemeClr val="dk1"/>
                </a:solidFill>
              </a:rPr>
              <a:t>with length of 0</a:t>
            </a:r>
            <a:endParaRPr sz="1600" u="sng">
              <a:solidFill>
                <a:schemeClr val="dk1"/>
              </a:solidFill>
            </a:endParaRPr>
          </a:p>
        </p:txBody>
      </p:sp>
      <p:sp>
        <p:nvSpPr>
          <p:cNvPr id="112" name="Google Shape;112;p19"/>
          <p:cNvSpPr txBox="1"/>
          <p:nvPr>
            <p:ph type="title"/>
          </p:nvPr>
        </p:nvSpPr>
        <p:spPr>
          <a:xfrm>
            <a:off x="0" y="0"/>
            <a:ext cx="9144000" cy="572700"/>
          </a:xfrm>
          <a:prstGeom prst="rect">
            <a:avLst/>
          </a:prstGeom>
          <a:solidFill>
            <a:srgbClr val="D9D9D9"/>
          </a:solidFill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Reduction</a:t>
            </a:r>
            <a:endParaRPr/>
          </a:p>
        </p:txBody>
      </p:sp>
      <p:pic>
        <p:nvPicPr>
          <p:cNvPr id="113" name="Google Shape;113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6775" y="1299975"/>
            <a:ext cx="4597048" cy="30282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0"/>
          <p:cNvSpPr txBox="1"/>
          <p:nvPr>
            <p:ph type="title"/>
          </p:nvPr>
        </p:nvSpPr>
        <p:spPr>
          <a:xfrm>
            <a:off x="0" y="0"/>
            <a:ext cx="9144000" cy="572700"/>
          </a:xfrm>
          <a:prstGeom prst="rect">
            <a:avLst/>
          </a:prstGeom>
          <a:solidFill>
            <a:srgbClr val="D9D9D9"/>
          </a:solidFill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5"/>
              <a:buFont typeface="Arial"/>
              <a:buNone/>
            </a:pPr>
            <a:r>
              <a:rPr lang="en"/>
              <a:t>Reduction</a:t>
            </a:r>
            <a:endParaRPr/>
          </a:p>
        </p:txBody>
      </p:sp>
      <p:sp>
        <p:nvSpPr>
          <p:cNvPr id="119" name="Google Shape;119;p20"/>
          <p:cNvSpPr txBox="1"/>
          <p:nvPr>
            <p:ph idx="1" type="body"/>
          </p:nvPr>
        </p:nvSpPr>
        <p:spPr>
          <a:xfrm>
            <a:off x="2441850" y="4066825"/>
            <a:ext cx="4260300" cy="1309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1200"/>
              </a:spcBef>
              <a:spcAft>
                <a:spcPts val="1000"/>
              </a:spcAft>
              <a:buClr>
                <a:schemeClr val="dk1"/>
              </a:buClr>
              <a:buSzPts val="1600"/>
              <a:buChar char="●"/>
            </a:pPr>
            <a:r>
              <a:rPr i="1" lang="en" sz="1600">
                <a:solidFill>
                  <a:schemeClr val="dk1"/>
                </a:solidFill>
              </a:rPr>
              <a:t>G′</a:t>
            </a:r>
            <a:r>
              <a:rPr lang="en" sz="1600">
                <a:solidFill>
                  <a:schemeClr val="dk1"/>
                </a:solidFill>
              </a:rPr>
              <a:t> has cycle passing through all vertices once with length of 0. This is a </a:t>
            </a:r>
            <a:r>
              <a:rPr b="1" lang="en" sz="1600">
                <a:solidFill>
                  <a:schemeClr val="dk1"/>
                </a:solidFill>
              </a:rPr>
              <a:t>Hamiltonian Cycle</a:t>
            </a:r>
            <a:r>
              <a:rPr lang="en" sz="1600">
                <a:solidFill>
                  <a:schemeClr val="dk1"/>
                </a:solidFill>
              </a:rPr>
              <a:t> in </a:t>
            </a:r>
            <a:r>
              <a:rPr i="1" lang="en" sz="1600">
                <a:solidFill>
                  <a:schemeClr val="dk1"/>
                </a:solidFill>
              </a:rPr>
              <a:t>G.</a:t>
            </a:r>
            <a:endParaRPr sz="1600" u="sng">
              <a:solidFill>
                <a:schemeClr val="dk1"/>
              </a:solidFill>
            </a:endParaRPr>
          </a:p>
        </p:txBody>
      </p:sp>
      <p:pic>
        <p:nvPicPr>
          <p:cNvPr id="120" name="Google Shape;120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038525"/>
            <a:ext cx="4597048" cy="3028299"/>
          </a:xfrm>
          <a:prstGeom prst="rect">
            <a:avLst/>
          </a:prstGeom>
          <a:noFill/>
          <a:ln>
            <a:noFill/>
          </a:ln>
        </p:spPr>
      </p:pic>
      <p:pic>
        <p:nvPicPr>
          <p:cNvPr id="121" name="Google Shape;121;p2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892075" y="1059175"/>
            <a:ext cx="4149624" cy="2986975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0"/>
          <p:cNvSpPr txBox="1"/>
          <p:nvPr/>
        </p:nvSpPr>
        <p:spPr>
          <a:xfrm>
            <a:off x="1970775" y="572700"/>
            <a:ext cx="6555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000"/>
              </a:spcAft>
              <a:buNone/>
            </a:pPr>
            <a:r>
              <a:rPr b="1" i="1" lang="en" sz="2400">
                <a:solidFill>
                  <a:schemeClr val="dk1"/>
                </a:solidFill>
              </a:rPr>
              <a:t>G′</a:t>
            </a:r>
            <a:endParaRPr b="1" sz="2600">
              <a:solidFill>
                <a:schemeClr val="dk2"/>
              </a:solidFill>
            </a:endParaRPr>
          </a:p>
        </p:txBody>
      </p:sp>
      <p:sp>
        <p:nvSpPr>
          <p:cNvPr id="123" name="Google Shape;123;p20"/>
          <p:cNvSpPr txBox="1"/>
          <p:nvPr/>
        </p:nvSpPr>
        <p:spPr>
          <a:xfrm>
            <a:off x="6738588" y="572700"/>
            <a:ext cx="456600" cy="56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000"/>
              </a:spcAft>
              <a:buNone/>
            </a:pPr>
            <a:r>
              <a:rPr b="1" i="1" lang="en" sz="2500">
                <a:solidFill>
                  <a:schemeClr val="dk1"/>
                </a:solidFill>
              </a:rPr>
              <a:t>G</a:t>
            </a:r>
            <a:endParaRPr b="1" sz="27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8" name="Google Shape;128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flipH="1">
            <a:off x="5704225" y="86328"/>
            <a:ext cx="4297125" cy="4297151"/>
          </a:xfrm>
          <a:prstGeom prst="rect">
            <a:avLst/>
          </a:prstGeom>
          <a:noFill/>
          <a:ln>
            <a:noFill/>
          </a:ln>
        </p:spPr>
      </p:pic>
      <p:sp>
        <p:nvSpPr>
          <p:cNvPr id="129" name="Google Shape;129;p21"/>
          <p:cNvSpPr txBox="1"/>
          <p:nvPr>
            <p:ph type="title"/>
          </p:nvPr>
        </p:nvSpPr>
        <p:spPr>
          <a:xfrm>
            <a:off x="0" y="0"/>
            <a:ext cx="9144000" cy="572700"/>
          </a:xfrm>
          <a:prstGeom prst="rect">
            <a:avLst/>
          </a:prstGeom>
          <a:solidFill>
            <a:srgbClr val="D9D9D9"/>
          </a:solidFill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Analytical Runtime</a:t>
            </a:r>
            <a:endParaRPr/>
          </a:p>
        </p:txBody>
      </p:sp>
      <p:sp>
        <p:nvSpPr>
          <p:cNvPr id="130" name="Google Shape;130;p21"/>
          <p:cNvSpPr txBox="1"/>
          <p:nvPr/>
        </p:nvSpPr>
        <p:spPr>
          <a:xfrm>
            <a:off x="311700" y="1135850"/>
            <a:ext cx="4659000" cy="714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302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</a:pPr>
            <a:r>
              <a:rPr lang="en" sz="1600">
                <a:solidFill>
                  <a:schemeClr val="dk1"/>
                </a:solidFill>
              </a:rPr>
              <a:t>Using a brute-force algorithm for TSP, every possible tour of the cities is examined: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131" name="Google Shape;131;p21"/>
          <p:cNvSpPr txBox="1"/>
          <p:nvPr/>
        </p:nvSpPr>
        <p:spPr>
          <a:xfrm>
            <a:off x="264300" y="2507750"/>
            <a:ext cx="86154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900">
                <a:solidFill>
                  <a:srgbClr val="FF0000"/>
                </a:solidFill>
              </a:rPr>
              <a:t>for</a:t>
            </a:r>
            <a:r>
              <a:rPr lang="en" sz="1900">
                <a:solidFill>
                  <a:schemeClr val="dk1"/>
                </a:solidFill>
              </a:rPr>
              <a:t> </a:t>
            </a:r>
            <a:r>
              <a:rPr lang="en" sz="1900">
                <a:solidFill>
                  <a:schemeClr val="dk2"/>
                </a:solidFill>
              </a:rPr>
              <a:t>perm</a:t>
            </a:r>
            <a:r>
              <a:rPr lang="en" sz="1900">
                <a:solidFill>
                  <a:schemeClr val="dk1"/>
                </a:solidFill>
              </a:rPr>
              <a:t> </a:t>
            </a:r>
            <a:r>
              <a:rPr lang="en" sz="1900">
                <a:solidFill>
                  <a:srgbClr val="FF0000"/>
                </a:solidFill>
              </a:rPr>
              <a:t>in</a:t>
            </a:r>
            <a:r>
              <a:rPr lang="en" sz="1900">
                <a:solidFill>
                  <a:schemeClr val="dk1"/>
                </a:solidFill>
              </a:rPr>
              <a:t> </a:t>
            </a:r>
            <a:r>
              <a:rPr lang="en" sz="1900">
                <a:solidFill>
                  <a:srgbClr val="666666"/>
                </a:solidFill>
              </a:rPr>
              <a:t>itertools.permutations(</a:t>
            </a:r>
            <a:r>
              <a:rPr lang="en" sz="1900">
                <a:solidFill>
                  <a:srgbClr val="188038"/>
                </a:solidFill>
              </a:rPr>
              <a:t>range</a:t>
            </a:r>
            <a:r>
              <a:rPr lang="en" sz="1900">
                <a:solidFill>
                  <a:srgbClr val="666666"/>
                </a:solidFill>
              </a:rPr>
              <a:t>(</a:t>
            </a:r>
            <a:r>
              <a:rPr lang="en" sz="1900">
                <a:solidFill>
                  <a:srgbClr val="FF00FF"/>
                </a:solidFill>
              </a:rPr>
              <a:t>1</a:t>
            </a:r>
            <a:r>
              <a:rPr lang="en" sz="1900">
                <a:solidFill>
                  <a:srgbClr val="666666"/>
                </a:solidFill>
              </a:rPr>
              <a:t>, n)) </a:t>
            </a:r>
            <a:r>
              <a:rPr lang="en" sz="1900">
                <a:solidFill>
                  <a:schemeClr val="dk1"/>
                </a:solidFill>
              </a:rPr>
              <a:t>producing</a:t>
            </a:r>
            <a:r>
              <a:rPr lang="en" sz="1900">
                <a:solidFill>
                  <a:srgbClr val="666666"/>
                </a:solidFill>
              </a:rPr>
              <a:t> (n - 1)! </a:t>
            </a:r>
            <a:r>
              <a:rPr lang="en" sz="1900">
                <a:solidFill>
                  <a:schemeClr val="dk1"/>
                </a:solidFill>
              </a:rPr>
              <a:t>tours</a:t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21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100">
              <a:solidFill>
                <a:schemeClr val="dk2"/>
              </a:solidFill>
            </a:endParaRPr>
          </a:p>
        </p:txBody>
      </p:sp>
      <p:sp>
        <p:nvSpPr>
          <p:cNvPr id="132" name="Google Shape;132;p21"/>
          <p:cNvSpPr txBox="1"/>
          <p:nvPr/>
        </p:nvSpPr>
        <p:spPr>
          <a:xfrm>
            <a:off x="280350" y="3355150"/>
            <a:ext cx="85833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chemeClr val="dk1"/>
                </a:solidFill>
              </a:rPr>
              <a:t>cost = </a:t>
            </a:r>
            <a:r>
              <a:rPr lang="en" sz="1900">
                <a:solidFill>
                  <a:srgbClr val="188038"/>
                </a:solidFill>
              </a:rPr>
              <a:t>sum</a:t>
            </a:r>
            <a:r>
              <a:rPr lang="en" sz="1900">
                <a:solidFill>
                  <a:srgbClr val="666666"/>
                </a:solidFill>
              </a:rPr>
              <a:t>(dist[tour[i]][tour[i +</a:t>
            </a:r>
            <a:r>
              <a:rPr lang="en" sz="1900">
                <a:solidFill>
                  <a:schemeClr val="dk1"/>
                </a:solidFill>
              </a:rPr>
              <a:t> </a:t>
            </a:r>
            <a:r>
              <a:rPr lang="en" sz="1900">
                <a:solidFill>
                  <a:srgbClr val="FF00FF"/>
                </a:solidFill>
              </a:rPr>
              <a:t>1</a:t>
            </a:r>
            <a:r>
              <a:rPr lang="en" sz="1900">
                <a:solidFill>
                  <a:srgbClr val="666666"/>
                </a:solidFill>
              </a:rPr>
              <a:t>]</a:t>
            </a:r>
            <a:r>
              <a:rPr lang="en" sz="1900">
                <a:solidFill>
                  <a:schemeClr val="dk1"/>
                </a:solidFill>
              </a:rPr>
              <a:t> </a:t>
            </a:r>
            <a:r>
              <a:rPr lang="en" sz="1900">
                <a:solidFill>
                  <a:srgbClr val="FF0000"/>
                </a:solidFill>
              </a:rPr>
              <a:t>for</a:t>
            </a:r>
            <a:r>
              <a:rPr lang="en" sz="1900">
                <a:solidFill>
                  <a:schemeClr val="dk1"/>
                </a:solidFill>
              </a:rPr>
              <a:t> </a:t>
            </a:r>
            <a:r>
              <a:rPr lang="en" sz="1900">
                <a:solidFill>
                  <a:srgbClr val="666666"/>
                </a:solidFill>
              </a:rPr>
              <a:t>i</a:t>
            </a:r>
            <a:r>
              <a:rPr lang="en" sz="1900">
                <a:solidFill>
                  <a:schemeClr val="dk1"/>
                </a:solidFill>
              </a:rPr>
              <a:t> </a:t>
            </a:r>
            <a:r>
              <a:rPr lang="en" sz="1900">
                <a:solidFill>
                  <a:srgbClr val="FF0000"/>
                </a:solidFill>
              </a:rPr>
              <a:t>in</a:t>
            </a:r>
            <a:r>
              <a:rPr lang="en" sz="1900">
                <a:solidFill>
                  <a:schemeClr val="dk1"/>
                </a:solidFill>
              </a:rPr>
              <a:t> </a:t>
            </a:r>
            <a:r>
              <a:rPr lang="en" sz="1900">
                <a:solidFill>
                  <a:srgbClr val="188038"/>
                </a:solidFill>
              </a:rPr>
              <a:t>range</a:t>
            </a:r>
            <a:r>
              <a:rPr lang="en" sz="1900">
                <a:solidFill>
                  <a:srgbClr val="666666"/>
                </a:solidFill>
              </a:rPr>
              <a:t>(n)) </a:t>
            </a:r>
            <a:r>
              <a:rPr lang="en" sz="1900">
                <a:solidFill>
                  <a:schemeClr val="dk1"/>
                </a:solidFill>
              </a:rPr>
              <a:t>is</a:t>
            </a:r>
            <a:r>
              <a:rPr lang="en" sz="1900">
                <a:solidFill>
                  <a:srgbClr val="666666"/>
                </a:solidFill>
              </a:rPr>
              <a:t> O(n) f</a:t>
            </a:r>
            <a:r>
              <a:rPr lang="en" sz="1900">
                <a:solidFill>
                  <a:schemeClr val="dk1"/>
                </a:solidFill>
              </a:rPr>
              <a:t>or every tour</a:t>
            </a:r>
            <a:endParaRPr sz="17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2"/>
              </a:solidFill>
            </a:endParaRPr>
          </a:p>
        </p:txBody>
      </p:sp>
      <p:sp>
        <p:nvSpPr>
          <p:cNvPr id="133" name="Google Shape;133;p21"/>
          <p:cNvSpPr txBox="1"/>
          <p:nvPr/>
        </p:nvSpPr>
        <p:spPr>
          <a:xfrm>
            <a:off x="280350" y="2124500"/>
            <a:ext cx="85833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 u="sng">
                <a:solidFill>
                  <a:schemeClr val="dk1"/>
                </a:solidFill>
              </a:rPr>
              <a:t>Dominant term:</a:t>
            </a:r>
            <a:endParaRPr sz="1700" u="sng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 u="sng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 u="sng">
              <a:solidFill>
                <a:schemeClr val="dk2"/>
              </a:solidFill>
            </a:endParaRPr>
          </a:p>
        </p:txBody>
      </p:sp>
      <p:sp>
        <p:nvSpPr>
          <p:cNvPr id="134" name="Google Shape;134;p21"/>
          <p:cNvSpPr txBox="1"/>
          <p:nvPr/>
        </p:nvSpPr>
        <p:spPr>
          <a:xfrm>
            <a:off x="1536000" y="4249025"/>
            <a:ext cx="60720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1600">
                <a:solidFill>
                  <a:schemeClr val="dk1"/>
                </a:solidFill>
              </a:rPr>
              <a:t>Algorithm complexity: O(n!) factorial time, dominates everything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2"/>
          <p:cNvSpPr txBox="1"/>
          <p:nvPr>
            <p:ph type="title"/>
          </p:nvPr>
        </p:nvSpPr>
        <p:spPr>
          <a:xfrm>
            <a:off x="0" y="0"/>
            <a:ext cx="9144000" cy="572700"/>
          </a:xfrm>
          <a:prstGeom prst="rect">
            <a:avLst/>
          </a:prstGeom>
          <a:solidFill>
            <a:srgbClr val="D9D9D9"/>
          </a:solidFill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Wallclock Runtime</a:t>
            </a:r>
            <a:endParaRPr/>
          </a:p>
        </p:txBody>
      </p:sp>
      <p:pic>
        <p:nvPicPr>
          <p:cNvPr id="140" name="Google Shape;140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flipH="1">
            <a:off x="6908199" y="1856175"/>
            <a:ext cx="2817250" cy="32873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816775"/>
            <a:ext cx="7534235" cy="41514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3"/>
          <p:cNvSpPr txBox="1"/>
          <p:nvPr>
            <p:ph type="title"/>
          </p:nvPr>
        </p:nvSpPr>
        <p:spPr>
          <a:xfrm>
            <a:off x="0" y="0"/>
            <a:ext cx="9144000" cy="572700"/>
          </a:xfrm>
          <a:prstGeom prst="rect">
            <a:avLst/>
          </a:prstGeom>
          <a:solidFill>
            <a:srgbClr val="D9D9D9"/>
          </a:solidFill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Wallclock Runtime</a:t>
            </a:r>
            <a:endParaRPr/>
          </a:p>
        </p:txBody>
      </p:sp>
      <p:sp>
        <p:nvSpPr>
          <p:cNvPr id="147" name="Google Shape;147;p23"/>
          <p:cNvSpPr txBox="1"/>
          <p:nvPr/>
        </p:nvSpPr>
        <p:spPr>
          <a:xfrm>
            <a:off x="195475" y="776975"/>
            <a:ext cx="43794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</a:rPr>
              <a:t>Input Size</a:t>
            </a:r>
            <a:endParaRPr sz="1800">
              <a:solidFill>
                <a:schemeClr val="dk1"/>
              </a:solidFill>
            </a:endParaRPr>
          </a:p>
        </p:txBody>
      </p:sp>
      <p:sp>
        <p:nvSpPr>
          <p:cNvPr id="148" name="Google Shape;148;p23"/>
          <p:cNvSpPr txBox="1"/>
          <p:nvPr/>
        </p:nvSpPr>
        <p:spPr>
          <a:xfrm>
            <a:off x="4572000" y="776975"/>
            <a:ext cx="43794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</a:rPr>
              <a:t>Runtime</a:t>
            </a:r>
            <a:endParaRPr sz="1800">
              <a:solidFill>
                <a:schemeClr val="dk1"/>
              </a:solidFill>
            </a:endParaRPr>
          </a:p>
        </p:txBody>
      </p:sp>
      <p:pic>
        <p:nvPicPr>
          <p:cNvPr id="149" name="Google Shape;149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205150"/>
            <a:ext cx="8839199" cy="35145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