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cf317d9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cf317d9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f317d97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cf317d9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cf317d97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cf317d97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cf317d97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cf317d97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f317d97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cf317d97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cf317d97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cf317d97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cf317d97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cf317d97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cf317d97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cf317d97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cf317d97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cf317d97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cf317d97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cf317d97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cf317d97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cf317d97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5" Type="http://schemas.openxmlformats.org/officeDocument/2006/relationships/image" Target="../media/image4.jpg"/><Relationship Id="rId6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2.png"/><Relationship Id="rId5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Approximation Solution</a:t>
            </a:r>
            <a:endParaRPr/>
          </a:p>
        </p:txBody>
      </p:sp>
      <p:pic>
        <p:nvPicPr>
          <p:cNvPr id="55" name="Google Shape;55;p13" title="1000_F_64266556_Rbef7NiLjuBh7W6VBKScZ6cVGxfQxrD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643" y="1926900"/>
            <a:ext cx="612321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915575"/>
            <a:ext cx="8520600" cy="36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       Greedy                 Anytime            	   2-opt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/>
              <a:t>Strategy</a:t>
            </a:r>
            <a:endParaRPr sz="362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325" y="1840062"/>
            <a:ext cx="1562913" cy="141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0" l="0" r="1931" t="0"/>
          <a:stretch/>
        </p:blipFill>
        <p:spPr>
          <a:xfrm>
            <a:off x="3955812" y="1745238"/>
            <a:ext cx="1232375" cy="15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5316250" y="2006538"/>
            <a:ext cx="1130400" cy="11304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2697313" y="2006538"/>
            <a:ext cx="1130400" cy="11304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 title="istockphoto-1145844061-170667a.jpg"/>
          <p:cNvPicPr preferRelativeResize="0"/>
          <p:nvPr/>
        </p:nvPicPr>
        <p:blipFill rotWithShape="1">
          <a:blip r:embed="rId5">
            <a:alphaModFix/>
          </a:blip>
          <a:srcRect b="0" l="4560" r="5317" t="0"/>
          <a:stretch/>
        </p:blipFill>
        <p:spPr>
          <a:xfrm>
            <a:off x="6661825" y="2006550"/>
            <a:ext cx="1720174" cy="127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3790488" y="3728275"/>
            <a:ext cx="15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With Restarts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Greedy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Iteratively selects nearest unvisited neighbor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Connects back to starting node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Produces quick but (usually) nonoptimal solutions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" name="Google Shape;74;p15" title="graph (3).png"/>
          <p:cNvPicPr preferRelativeResize="0"/>
          <p:nvPr/>
        </p:nvPicPr>
        <p:blipFill rotWithShape="1">
          <a:blip r:embed="rId3">
            <a:alphaModFix/>
          </a:blip>
          <a:srcRect b="35921" l="37264" r="33715" t="37427"/>
          <a:stretch/>
        </p:blipFill>
        <p:spPr>
          <a:xfrm>
            <a:off x="5441400" y="957425"/>
            <a:ext cx="3515774" cy="32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It Can Go Wrong</a:t>
            </a:r>
            <a:endParaRPr/>
          </a:p>
        </p:txBody>
      </p:sp>
      <p:pic>
        <p:nvPicPr>
          <p:cNvPr id="80" name="Google Shape;80;p16" title="graph (3).png"/>
          <p:cNvPicPr preferRelativeResize="0"/>
          <p:nvPr/>
        </p:nvPicPr>
        <p:blipFill rotWithShape="1">
          <a:blip r:embed="rId3">
            <a:alphaModFix/>
          </a:blip>
          <a:srcRect b="35921" l="36851" r="33714" t="37427"/>
          <a:stretch/>
        </p:blipFill>
        <p:spPr>
          <a:xfrm>
            <a:off x="2789025" y="1012824"/>
            <a:ext cx="3565951" cy="322862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17350" y="1663775"/>
            <a:ext cx="292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Shortsighted Greediness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0638" y="3616925"/>
            <a:ext cx="282892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 title="graph (3).png"/>
          <p:cNvPicPr preferRelativeResize="0"/>
          <p:nvPr/>
        </p:nvPicPr>
        <p:blipFill rotWithShape="1">
          <a:blip r:embed="rId4">
            <a:alphaModFix/>
          </a:blip>
          <a:srcRect b="35922" l="37117" r="33845" t="37692"/>
          <a:stretch/>
        </p:blipFill>
        <p:spPr>
          <a:xfrm>
            <a:off x="182625" y="126825"/>
            <a:ext cx="3768024" cy="34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graph (3).jpg"/>
          <p:cNvPicPr preferRelativeResize="0"/>
          <p:nvPr/>
        </p:nvPicPr>
        <p:blipFill rotWithShape="1">
          <a:blip r:embed="rId5">
            <a:alphaModFix/>
          </a:blip>
          <a:srcRect b="35659" l="37005" r="33561" t="37690"/>
          <a:stretch/>
        </p:blipFill>
        <p:spPr>
          <a:xfrm>
            <a:off x="4636813" y="98088"/>
            <a:ext cx="3845123" cy="34814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1260138" y="3220478"/>
            <a:ext cx="1542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Bad Cycle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5712423" y="3241325"/>
            <a:ext cx="191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Correct Cycle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91" name="Google Shape;91;p17" title="african-american-man-with-beard-annoyed-with-bad-attitude-making-stop-sign-crossing-hands-saying-no-expressing-security-defense-or-restriction-isol-MNKRM7.jpg"/>
          <p:cNvPicPr preferRelativeResize="0"/>
          <p:nvPr/>
        </p:nvPicPr>
        <p:blipFill rotWithShape="1">
          <a:blip r:embed="rId6">
            <a:alphaModFix/>
          </a:blip>
          <a:srcRect b="14102" l="14664" r="50553" t="2298"/>
          <a:stretch/>
        </p:blipFill>
        <p:spPr>
          <a:xfrm>
            <a:off x="1178975" y="3616925"/>
            <a:ext cx="1388374" cy="17094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3733375" y="233325"/>
            <a:ext cx="532500" cy="349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8227825" y="233325"/>
            <a:ext cx="532500" cy="349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2-Opt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Uses constructed greedy tour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Looks for pairs of edges that, if swapped, shorten the path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Reverses that path segment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Continues until no improvements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0" name="Google Shape;100;p18" title="2-opt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32" y="2896382"/>
            <a:ext cx="8987349" cy="18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838" y="815327"/>
            <a:ext cx="6392336" cy="399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Anytime with Restarts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 title="istockphoto-1416603097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206" y="-101541"/>
            <a:ext cx="2870150" cy="196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66a802ad1ab16314fda2ff37_The Adams Company - Spur Gear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4193" y="690268"/>
            <a:ext cx="1443200" cy="14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4433175" y="1275600"/>
            <a:ext cx="4431000" cy="271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4474450" y="1230025"/>
            <a:ext cx="44310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approx(graph, deadline):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best = NULL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while time &lt; deadline: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tour = greedy(random start node)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tour = 2-opt(tour)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if current path is shorter: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    update best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  return best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15" name="Google Shape;115;p20" title="istockphoto-164165969-612x61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5" y="3121575"/>
            <a:ext cx="1638300" cy="245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Approximation Strategy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271375" y="1260437"/>
            <a:ext cx="3898500" cy="2397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Constructs Initial tour using Nearest Neighbor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Refines tour using 2-Opt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Repeats process with Random Start Nodes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1" title="download.jpg"/>
          <p:cNvPicPr preferRelativeResize="0"/>
          <p:nvPr/>
        </p:nvPicPr>
        <p:blipFill rotWithShape="1">
          <a:blip r:embed="rId3">
            <a:alphaModFix/>
          </a:blip>
          <a:srcRect b="0" l="0" r="49176" t="0"/>
          <a:stretch/>
        </p:blipFill>
        <p:spPr>
          <a:xfrm rot="8572817">
            <a:off x="2622325" y="1043425"/>
            <a:ext cx="1065400" cy="188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Runtime Analysis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493950" y="929700"/>
            <a:ext cx="225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Greedy: O(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</a:rPr>
              <a:t>n²)</a:t>
            </a:r>
            <a:endParaRPr sz="24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25" name="Google Shape;125;p21" title="download.jpg"/>
          <p:cNvPicPr preferRelativeResize="0"/>
          <p:nvPr/>
        </p:nvPicPr>
        <p:blipFill rotWithShape="1">
          <a:blip r:embed="rId3">
            <a:alphaModFix/>
          </a:blip>
          <a:srcRect b="0" l="49176" r="0" t="0"/>
          <a:stretch/>
        </p:blipFill>
        <p:spPr>
          <a:xfrm rot="-8268957">
            <a:off x="5539204" y="1043425"/>
            <a:ext cx="1065400" cy="188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6199125" y="929700"/>
            <a:ext cx="231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2-Opt: O(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</a:rPr>
              <a:t>n²)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4850" y="1752500"/>
            <a:ext cx="3254276" cy="325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2746038" y="4452675"/>
            <a:ext cx="365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Total Complexity - O(</a:t>
            </a:r>
            <a:r>
              <a:rPr b="1" lang="en" sz="2400">
                <a:solidFill>
                  <a:schemeClr val="dk1"/>
                </a:solidFill>
                <a:highlight>
                  <a:schemeClr val="lt1"/>
                </a:highlight>
              </a:rPr>
              <a:t>n²</a:t>
            </a:r>
            <a:r>
              <a:rPr b="1" lang="en" sz="2400">
                <a:solidFill>
                  <a:schemeClr val="dk1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4194138" y="1044200"/>
            <a:ext cx="755700" cy="7083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2"/>
          <p:cNvPicPr preferRelativeResize="0"/>
          <p:nvPr/>
        </p:nvPicPr>
        <p:blipFill rotWithShape="1">
          <a:blip r:embed="rId3">
            <a:alphaModFix/>
          </a:blip>
          <a:srcRect b="0" l="0" r="0" t="6200"/>
          <a:stretch/>
        </p:blipFill>
        <p:spPr>
          <a:xfrm>
            <a:off x="1679250" y="1957975"/>
            <a:ext cx="5785523" cy="325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 title="istockphoto-183282399-612x612.jpg"/>
          <p:cNvPicPr preferRelativeResize="0"/>
          <p:nvPr/>
        </p:nvPicPr>
        <p:blipFill rotWithShape="1">
          <a:blip r:embed="rId4">
            <a:alphaModFix/>
          </a:blip>
          <a:srcRect b="11894" l="0" r="0" t="0"/>
          <a:stretch/>
        </p:blipFill>
        <p:spPr>
          <a:xfrm>
            <a:off x="2769200" y="455151"/>
            <a:ext cx="3605600" cy="13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Approximate vs Exact</a:t>
            </a:r>
            <a:endParaRPr/>
          </a:p>
        </p:txBody>
      </p:sp>
      <p:sp>
        <p:nvSpPr>
          <p:cNvPr id="137" name="Google Shape;137;p22"/>
          <p:cNvSpPr txBox="1"/>
          <p:nvPr/>
        </p:nvSpPr>
        <p:spPr>
          <a:xfrm>
            <a:off x="2552113" y="1742650"/>
            <a:ext cx="403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Wallclock Runtime Comparison: Exact vs. Approx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225" y="867525"/>
            <a:ext cx="5552952" cy="41647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Lower Bound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